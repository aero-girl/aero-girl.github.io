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01</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Unity Catalog</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ity-catalog.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Unity Catalog is Databricks governance for data, models, agents and tools.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AI teams cannot safely reuse data if nobody trusts the permissions, lineage or definitions. It solves the “which data is approved, who owns it, and can this AI workflow use it?”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is the bit that makes AI reusable, not just impressive in a demo. If the same customer, product or supplier data is used by analytics, agents and apps, leaders need one place to define who can use it, what it means and where it came from. Without that, every AI answer becomes another reconciliation meeting.</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fewer wrong offers, fewer inconsistent service answers, and less risk that sensitive loyalty or colleague data leaks into the wrong AI workflow.</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New AI Gateway links, policy updates, better glossary and domain support, external lineage, file support and wider governance links.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For a UK enterprise like Sainsbury’s, this is the audit spine: customer, supplier, colleague and operational data can be reused by AI without losing ownership, lineage or permission controls.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cut review time because security and data teams work from one rule book.</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01/18 · Official Databricks source: https://www.databricks.com/blog/whats-new-unity-catalog-data-ai-summit-2026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02</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Unity AI Gateway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ity-ai-gateway.png"/>
          <p:cNvPicPr>
            <a:picLocks noChangeAspect="1"/>
          </p:cNvPicPr>
          <p:nvPr/>
        </p:nvPicPr>
        <p:blipFill>
          <a:blip r:embed="rId2"/>
          <a:stretch>
            <a:fillRect/>
          </a:stretch>
        </p:blipFill>
        <p:spPr>
          <a:xfrm>
            <a:off x="7085076" y="950976"/>
            <a:ext cx="4255008"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Unity AI Gateway controls how models, agents and tools run.</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Enterprises are about to have model and agent sprawl: different tools, different costs, different risks. It solves the “how do we route, monitor and control AI usage centrally?”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As soon as teams start using multiple models and agents, the question changes from “can we build it?” to “can we control it?”. This matters because uncontrolled AI creates hidden cost, duplicated tools and risky actions. A gateway is the traffic control layer for model access, tool use, spend, audit and policy.</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AI experiences can be safer and more consistent because the company controls which models answer, what tools they can use, and when a human should stay in the loop.</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Runtime controls for models and agents, spend caps, smart routing, MCP controls and traces.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This is the control plane procurement will ask for: which models are allowed, what they cost, what tools they can touch, and who is accountable when an agent acts.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gives platform teams a way to approve AI use without approving every tool one by one.</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02/18 · Official Databricks source: https://www.databricks.com/blog/ai-governance-data-ai-summit-2026-whats-new-unity-ai-gateway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B64FF"/>
                </a:solidFill>
                <a:latin typeface="Aptos"/>
              </a:defRPr>
            </a:pPr>
            <a:r>
              <a:t>03</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Agent build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Agent Bricks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gent-bricks.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Agent Bricks is Databricks platform for building and running AI agents.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Agent pilots often die because every team rebuilds retrieval, tools, memory, evaluation and monitoring from scratch. It solves the “how do we industrialise agent development?”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Most enterprises have plenty of agent experiments and very few agent products. Agent Bricks matters because it tries to turn agent-building into a repeatable factory: domain context, evaluation, memory, tracing and governance in one path. That is what moves agents from innovation theatre to business operations.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more useful service and operations agents. For example, an availability agent can explain why an online order substitution happened instead of giving a generic “out of stock” message.</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4B64FF"/>
          </a:solidFill>
          <a:ln w="10160">
            <a:solidFill>
              <a:srgbClr val="4B6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More model choice, more context connectors, Lakebase memory, Unity AI Gateway control and agent tracing.</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It gives teams a path from “clever demo” to repeatable domain agents for planning, service, supply chain or store operations without every squad inventing its own stack.</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should reduce repeated setup work for teams building agents.</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03/18 · Official Databricks source: https://www.databricks.com/blog/agent-bricks-dais-2026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04</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One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Genie One is an AI coworker for business teams.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Business users still depend on analysts for too many everyday questions and follow-up actions. It solves the “how do non-technical teams get trusted answers and take action faster?”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The real shift is not another chatbot. It is business users getting a governed AI worker that can understand company data, answer questions and help trigger work. That matters because demand for insight is always higher than analyst capacity, especially in trading, operations, marketing and finance teams.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frontline and commercial teams get answers faster. A store or contact-centre leader can ask what changed today and act before customers see empty shelves or slow responses.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A business user agent, tool actions, enterprise context and workflow support through Genie Ontology.</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Business teams get a safer way to ask questions and kick off work from governed data, useful for trading, availability, marketing and customer teams that cannot wait in BI queues.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move routine analysis out of analyst queues.</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04/18 · Official Databricks source: https://www.databricks.com/blog/introducing-genie-one-genie-ontology-and-genie-agents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05</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Ontology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Genie Ontology is a living map of business meaning.</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AI does not naturally understand company language, metric definitions or relationships. It solves the “how does the AI know what sales, margin, customer or product actually mean here?”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AI fails in enterprises when it does not understand business language. “Sales”, “availability”, “active customer”, “margin” and “churn” can mean different things by team. Genie Ontology matters because it gives agents a business map, so answers are grounded in the organisation’s definitions rather than whatever table name looked plausible.</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the AI stops mixing up business definitions. A customer should not get one answer from marketing and another from service because systems disagree on loyalty status or product eligibility.</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A semantic graph built from tables, dashboards, queries, apps, usage and ownership signals.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This matters because UK retailers and banks argue over definitions: sales, margin, availability, churn, loyalty and consent. Agents need the business meaning, not just tables.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metric disputes and improve answer quality.</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05/18 · Official Databricks source: https://www.databricks.com/blog/introducing-genie-one-genie-ontology-and-genie-agents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A47B4"/>
                </a:solidFill>
                <a:latin typeface="Aptos"/>
              </a:defRPr>
            </a:pPr>
            <a:r>
              <a:t>06</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Business AI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Agents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on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Genie Agents are conversational agents for analytics.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Dashboards answer yesterday’s fixed questions, but teams need conversational, governed help. It solves the “how do we turn BI into reusable assistants?”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matters because it packages trusted analytics into assistants people can actually use. Instead of everyone learning SQL or waiting for a dashboard change, a category manager, store ops lead or finance partner can ask a governed agent and stay inside approved permissions and definitions.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faster, more trusted answers for the people serving customers. A colleague could ask a governed agent about a product, return policy or local availability and get a consistent response.</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7A47B4"/>
          </a:solidFill>
          <a:ln w="10160">
            <a:solidFill>
              <a:srgbClr val="7A4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Ontology grounded answers, permission checks and sharable analytics agents.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This can turn trusted analytics into reusable assistants for category teams, store ops, finance and contact centres, while keeping permissions and definitions intact.</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They can reduce BI bottlenecks while keeping access controls in place.</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06/18 · Official Databricks source: https://www.databricks.com/blog/introducing-genie-one-genie-ontology-and-genie-agents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007C80"/>
                </a:solidFill>
                <a:latin typeface="Aptos"/>
              </a:defRPr>
            </a:pPr>
            <a:r>
              <a:t>07</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Real-time data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Lakehouse RT</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house-rt.png"/>
          <p:cNvPicPr>
            <a:picLocks noChangeAspect="1"/>
          </p:cNvPicPr>
          <p:nvPr/>
        </p:nvPicPr>
        <p:blipFill>
          <a:blip r:embed="rId2"/>
          <a:stretch>
            <a:fillRect/>
          </a:stretch>
        </p:blipFill>
        <p:spPr>
          <a:xfrm>
            <a:off x="7116283" y="950976"/>
            <a:ext cx="4192592"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Lakehouse RT brings low latency analytics directly to lakehouse data.</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Traditional analytics can be too slow for operational decisions. It solves the “how do apps and agents act on fresh data without a separate real-time stack?”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Customer and operational decisions often have a short shelf life. If the data is hours old, the action is already late. Lakehouse RT matters because it pushes the lakehouse closer to real-time use cases: availability, fulfilment exceptions, fraud signals, service interventions and fast-changing demand.</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interventions happen while they still matter: stock alerts before a basket fails, fraud checks during the transaction, fulfilment updates before the delivery promise breaks.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007C80"/>
          </a:solidFill>
          <a:ln w="10160">
            <a:solidFill>
              <a:srgbClr val="007C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The Reyden engine, direct Delta and Iceberg reads, millisecond query claims and less need for a separate real time serving layer.</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Fresh data is the difference between a useful agent and a stale dashboard. Think stock availability, fraud signals, fulfilment exceptions and customer interventions.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simplify real time architecture if the claims hold for the workload.</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07/18 · Official Databricks source: https://www.databricks.com/blog/introducing-lakehousert-real-time-performance-unified-lakehouse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007368"/>
                </a:solidFill>
                <a:latin typeface="Aptos"/>
              </a:defRPr>
            </a:pPr>
            <a:r>
              <a:t>08</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Operational data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LTAP, Lakebase + disaster recovery</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tap-lakebase-and-multi-cloud-disaster-recovery.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LTAP gives apps, analytics and agents one governed system of record across transactions and analytics.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Apps and agents need transactional state as well as analytics. It solves the “where does an AI app store orders, cases, approvals, memory and recovery state?”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Analytics platforms have historically been great at insight and weaker at operational state. Agents and apps need both: the latest transaction, the task status, the case history, the approval trail. Lakebase and LTAP matter because they bring operational application patterns closer to governed analytical data.</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AI apps can remember state. For example, a service agent can track a refund case, approvals and next action without bouncing the customer between systems.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007368"/>
          </a:solidFill>
          <a:ln w="10160">
            <a:solidFill>
              <a:srgbClr val="0073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LTAP, Lakebase as the transactional layer, disaster recovery, branching and snapshots.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Operational AI needs state: orders, cases, tasks, memory, approvals. Lakebase points Databricks closer to app-facing systems, not just analytics.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data copies, failover work and engineering time if the production limits match the workload.</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08/18 · Official Databricks source: https://www.databricks.com/company/newsroom/press-releases/databricks-launches-ltap-first-lake-transactionalanalytical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306998"/>
                </a:solidFill>
                <a:latin typeface="Aptos"/>
              </a:defRPr>
            </a:pPr>
            <a:r>
              <a:t>09</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Data engineering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Lakeflow</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flow.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Lakeflow is Databricks data engineering platform for ingestion, transform and orchestration.</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Data pipelines are fragmented, brittle and slow to change. It solves the “how do we keep trusted data flowing into analytics and AI without endless plumbing?”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matters because AI is only as good as the pipelines feeding it. If teams cannot reliably ingest, transform and orchestrate data, agents will give stale or broken answers. Lakeflow is about making the plumbing less bespoke, less fragile and easier to operate at scale.</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fewer broken journeys caused by stale or missing data. Better pipelines mean more reliable stock, pricing, delivery and personalisation signals.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306998"/>
          </a:solidFill>
          <a:ln w="10160">
            <a:solidFill>
              <a:srgbClr val="306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More connectors, Designer, Genie Code help, Zerobus ingest and Lakeflow Jobs.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Most AI programmes fail quietly in the plumbing. Faster governed ingestion and orchestration means less time stitching pipelines and more time shipping use cases.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pipeline build time and tool sprawl.</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09/18 · Official Databricks source: https://www.databricks.com/blog/lakeflow-new-era-agentic-data-engineering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C9671E"/>
                </a:solidFill>
                <a:latin typeface="Aptos"/>
              </a:defRPr>
            </a:pPr>
            <a:r>
              <a:t>10</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Operations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ZeroOps</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zeroops.png"/>
          <p:cNvPicPr>
            <a:picLocks noChangeAspect="1"/>
          </p:cNvPicPr>
          <p:nvPr/>
        </p:nvPicPr>
        <p:blipFill>
          <a:blip r:embed="rId2"/>
          <a:stretch>
            <a:fillRect/>
          </a:stretch>
        </p:blipFill>
        <p:spPr>
          <a:xfrm>
            <a:off x="7116283" y="950976"/>
            <a:ext cx="4192592"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Genie ZeroOps watches production data and AI workloads.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Production data and AI systems break in ways humans spot too late. It solves the “how do we detect, diagnose and fix platform issues before users feel them?”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More AI means more production things to watch: data quality, jobs, models, agents, endpoints and pipelines. Genie ZeroOps matters because platform teams cannot manually inspect everything. The promise is earlier detection, faster diagnosis and safer suggested fixes before users feel the pain.</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fewer invisible platform failures turning into bad experiences. If a pricing feed, recommendation job or service model degrades, teams can detect and fix it faster.</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C9671E"/>
          </a:solidFill>
          <a:ln w="10160">
            <a:solidFill>
              <a:srgbClr val="C967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Background checks, issue investigation, cloned data testing and suggested fixes.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AI estates will create more moving parts, not fewer. Automated monitoring and suggested fixes help small platform teams keep production workloads healthy.</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cut triage time, but human approval still matters.</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10/18 · Official Databricks source: https://www.databricks.com/blog/introducing-genie-zeroops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85473"/>
                </a:solidFill>
                <a:latin typeface="Aptos"/>
              </a:defRPr>
            </a:pPr>
            <a:r>
              <a:t>11</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Developer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Code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cod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Genie Code is a coding agent for data and ML work.</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Data teams lose time on repetitive notebook, pipeline and ML code work. It solves the “how do engineers move faster inside the data platform without leaving governance behind?”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matters because data and ML teams spend too much time on repeatable coding chores: notebooks, pipelines, docs, endpoint checks and glue code. A coding agent inside the data platform can speed that up, but only if review, testing and release discipline stay in place.</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teams can ship improvements faster, but the value only lands if governance stops rushed code becoming a customer-impacting bug.</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A full page workspace, MLflow context, endpoint checks, scheduled tasks and GPU runtime switching.</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Data engineers and ML teams get a helper for notebooks, pipelines and docs. Useful, but only if code review and production gates stay non-negotiable.</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save engineering time if teams keep review gates in place.</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11/18 · Official Databricks source: https://www.databricks.com/blog/whats-new-genie-code-data-ai-summit-2026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485473"/>
                </a:solidFill>
                <a:latin typeface="Aptos"/>
              </a:defRPr>
            </a:pPr>
            <a:r>
              <a:t>12</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Developer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Genie Code + ZeroOps for ML</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code-and-zeroops-for-ml-and-data-scienc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Databricks added agent help for ML engineering, model serving and model operations.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ML teams struggle with the handoff from experiment to production monitoring. It solves the “how do we operationalise models and keep them healthy?”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Many ML projects do not fail in the model-building stage; they stall between experiment, deployment, monitoring and remediation. This matters because it targets the messy middle of ML operations: getting models served, observed, fixed and improved without handoffs slowing everything down.</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models that power recommendations, demand forecasts or service triage can be monitored and improved more quickly when behaviour changes.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485473"/>
          </a:solidFill>
          <a:ln w="10160">
            <a:solidFill>
              <a:srgbClr val="4854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Genie Code for ML work, Genie ZeroOps for ML, online feature serving on Lakebase and model serving updates.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For mature UK firms, this compresses the slog between experiment, serving, monitoring and remediation — where many ML projects get stuck.</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speed model iteration and cut operations work, but teams still need review gates.</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12/18 · Official Databricks source: https://www.databricks.com/blog/whats-new-ai-platform-agents-ml-engineering-our-deep-learning-platform-and-new-capabilities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636F2C"/>
                </a:solidFill>
                <a:latin typeface="Aptos"/>
              </a:defRPr>
            </a:pPr>
            <a:r>
              <a:t>13</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Distribution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Apps on Databricks Marketplace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on-databricks-marketplace.png"/>
          <p:cNvPicPr>
            <a:picLocks noChangeAspect="1"/>
          </p:cNvPicPr>
          <p:nvPr/>
        </p:nvPicPr>
        <p:blipFill>
          <a:blip r:embed="rId2"/>
          <a:stretch>
            <a:fillRect/>
          </a:stretch>
        </p:blipFill>
        <p:spPr>
          <a:xfrm>
            <a:off x="7111727" y="950976"/>
            <a:ext cx="4201705"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Marketplace apps run third party tools on governed Databricks data.</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Using specialist apps usually means copying sensitive data into another vendor environment. It solves the “how do we use third-party tools without exporting governed data everywhere?”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matters because every vendor app usually asks for another copy of sensitive data. Marketplace apps running closer to governed Databricks data could reduce export risk, shorten setup and make it easier to try specialist tools without creating another shadow data estate.</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companies can use specialist apps without copying customer data into every vendor environment, reducing privacy and security exposure.</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636F2C"/>
          </a:solidFill>
          <a:ln w="10160">
            <a:solidFill>
              <a:srgbClr val="636F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One click install, permission checks, serverless provisioning and app sandboxing.</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Vendor apps can run closer to governed data instead of demanding another risky data export. That is a big deal for customer, loyalty and regulated datasets.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shorten vendor setup and reduce data export risk.</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13/18 · Official Databricks source: https://www.databricks.com/blog/announcing-apps-databricks-marketplace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94492D"/>
                </a:solidFill>
                <a:latin typeface="Aptos"/>
              </a:defRPr>
            </a:pPr>
            <a:r>
              <a:t>14</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App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App Spaces + Genie App Builder</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genie-app-builder.png"/>
          <p:cNvPicPr>
            <a:picLocks noChangeAspect="1"/>
          </p:cNvPicPr>
          <p:nvPr/>
        </p:nvPicPr>
        <p:blipFill>
          <a:blip r:embed="rId2"/>
          <a:stretch>
            <a:fillRect/>
          </a:stretch>
        </p:blipFill>
        <p:spPr>
          <a:xfrm>
            <a:off x="7113073" y="950976"/>
            <a:ext cx="4199013"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Databricks announced three app-building capabilities: App Spaces for governance, Genie App Builder for natural-language app creation, and a lightweight micro app runtime for cheaper scale-to-zero apps.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Small internal apps take too long or bypass IT when teams get desperate. It solves the “how do we build lightweight governed apps around business workflows?”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The useful AI work often shows up as small internal apps: a stock exception view, a campaign planner, a field sales tool, a service triage screen. This matters because it gives teams a faster route to build those apps while keeping them inside platform governance, cost controls and access rules.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teams can build small tools around real customer pain points quickly, such as a colleague app for substitutions, complaints, campaign checks or product queries.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94492D"/>
          </a:solidFill>
          <a:ln w="10160">
            <a:solidFill>
              <a:srgbClr val="944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App Spaces for governing groups of apps, Genie App Builder as the data-aware build agent, and a lightweight micro app runtime for cheaper scale-to-zero apps.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Small internal apps are where AI becomes daily work. This offers a route to build them quickly without bypassing IT, security or data governance.</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cut small app backlogs without copying data out of Databricks.</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14/18 · Official Databricks source: https://www.databricks.com/blog/enabling-governed-vibe-coding-enterprise-apps-databricks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763957"/>
                </a:solidFill>
                <a:latin typeface="Aptos"/>
              </a:defRPr>
            </a:pPr>
            <a:r>
              <a:t>15</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Industry solution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CustomerLake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ustomerlake.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CustomerLake is Databricks agentic customer data platform.</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Customer data is split across marketing, loyalty, service, ecommerce and consent systems. It solves the “how do we give AI a joined-up, permission-aware customer view?”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Customer AI needs more than a profile table. It needs consent, identity, behaviour, transactions, preferences and journey context in one place agents can use safely. CustomerLake matters because it aims to make personalisation and customer service more actionable without spraying customer data across tools.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more relevant offers and service because the AI can see joined-up context, but only if consent, preference and suppression rules are treated as first-class data.</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763957"/>
          </a:solidFill>
          <a:ln w="10160">
            <a:solidFill>
              <a:srgbClr val="7639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CustomerLake, Golden Context, marketing agents and agentic CDP workflows inside Databricks.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Customer AI needs consent-aware, joined-up context. This is directly relevant to loyalty, next-best-action, personalisation and service journeys.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customer data platform sprawl and speed personalisation, but consent and governance need tight ownership.</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15/18 · Official Databricks source: https://www.databricks.com/blog/introducing-customerlake-agentic-cdp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2B495B"/>
                </a:solidFill>
                <a:latin typeface="Aptos"/>
              </a:defRPr>
            </a:pPr>
            <a:r>
              <a:t>16</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Observability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Lakewatch + Panther</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kewatch-and-panther.png"/>
          <p:cNvPicPr>
            <a:picLocks noChangeAspect="1"/>
          </p:cNvPicPr>
          <p:nvPr/>
        </p:nvPicPr>
        <p:blipFill>
          <a:blip r:embed="rId2"/>
          <a:stretch>
            <a:fillRect/>
          </a:stretch>
        </p:blipFill>
        <p:spPr>
          <a:xfrm>
            <a:off x="7122522" y="950976"/>
            <a:ext cx="4180114"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Lakewatch is Databricks agentic SIEM built on a security lakehouse.</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Security telemetry is expensive, fragmented and hard to investigate quickly. It solves the “how do we store more security history and investigate incidents faster?”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Security teams are drowning in data and cost. This matters because AI increases the attack surface while also creating more telemetry to inspect. A lakehouse SIEM approach could keep longer history at lower cost and give analysts agent assistance for investigation and response.</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better protection of customer and payment data. Longer security history and faster investigations can reduce breach dwell time and operational disruption.</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2B495B"/>
          </a:solidFill>
          <a:ln w="10160">
            <a:solidFill>
              <a:srgbClr val="2B4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Lakewatch, Panther ecosystem links, security data connectors, AI assisted investigation and open security lakehouse positioning.</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Security teams need cheaper retention and faster investigation as AI expands the attack surface. A lakehouse SIEM story could change the economics.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security storage pressure and help analysts investigate faster, if connector coverage and detection quality are good enough.</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16/18 · Official Databricks source: https://www.databricks.com/blog/databricks-announces-lakewatch-new-agentic-siem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67409D"/>
                </a:solidFill>
                <a:latin typeface="Aptos"/>
              </a:defRPr>
            </a:pPr>
            <a:r>
              <a:t>17</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Agent operations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3300" b="1">
                <a:solidFill>
                  <a:srgbClr val="212D5E"/>
                </a:solidFill>
                <a:latin typeface="Georgia"/>
              </a:defRPr>
            </a:pPr>
            <a:r>
              <a:t>Omnigent</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mnigent.png"/>
          <p:cNvPicPr>
            <a:picLocks noChangeAspect="1"/>
          </p:cNvPicPr>
          <p:nvPr/>
        </p:nvPicPr>
        <p:blipFill>
          <a:blip r:embed="rId2"/>
          <a:stretch>
            <a:fillRect/>
          </a:stretch>
        </p:blipFill>
        <p:spPr>
          <a:xfrm>
            <a:off x="7115866" y="950976"/>
            <a:ext cx="4193426"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Omnigent is an open source harness for working with different agents.</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Organisations will have many disconnected agents with no common harness. It solves the “how do we compare, combine, sandbox and govern different agents?”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Enterprises will not have one agent. They will have many: vendor agents, internal agents, copilots and workflow agents. Omnigent matters because it points to the next management problem: comparing, composing, sandboxing and sharing agents without letting the estate become chaos.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customers experience fewer disconnected AI behaviours. The company can test and compare agents before letting them touch real journeys.</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67409D"/>
          </a:solidFill>
          <a:ln w="10160">
            <a:solidFill>
              <a:srgbClr val="6740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A shared harness for composing, controlling and sharing agents with sandbox patterns.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Agent sprawl is coming. A harness for comparing, composing and controlling agents helps platform teams avoid twenty disconnected assistants.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agent sprawl, though it adds another layer to manage.</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17/18 · Official Databricks source: https://www.databricks.com/blog/introducing-omnigent-meta-harness-combine-control-and-share-your-agents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1E7"/>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
            <a:ext cx="237744" cy="6675120"/>
          </a:xfrm>
          <a:prstGeom prst="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84048"/>
            <a:ext cx="640080" cy="274320"/>
          </a:xfrm>
          <a:prstGeom prst="rect">
            <a:avLst/>
          </a:prstGeom>
          <a:noFill/>
        </p:spPr>
        <p:txBody>
          <a:bodyPr wrap="square" lIns="27432" rIns="27432" tIns="18288" bIns="18288">
            <a:normAutofit/>
          </a:bodyPr>
          <a:lstStyle/>
          <a:p>
            <a:pPr>
              <a:lnSpc>
                <a:spcPct val="100000"/>
              </a:lnSpc>
              <a:defRPr sz="1400" b="1">
                <a:solidFill>
                  <a:srgbClr val="AA2923"/>
                </a:solidFill>
                <a:latin typeface="Aptos"/>
              </a:defRPr>
            </a:pPr>
            <a:r>
              <a:t>18</a:t>
            </a:r>
          </a:p>
        </p:txBody>
      </p:sp>
      <p:sp>
        <p:nvSpPr>
          <p:cNvPr id="5" name="TextBox 4"/>
          <p:cNvSpPr txBox="1"/>
          <p:nvPr/>
        </p:nvSpPr>
        <p:spPr>
          <a:xfrm>
            <a:off x="1078992" y="384048"/>
            <a:ext cx="4389120" cy="201168"/>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DATABRICKS DATA + AI SUMMIT 2026</a:t>
            </a:r>
          </a:p>
        </p:txBody>
      </p:sp>
      <p:sp>
        <p:nvSpPr>
          <p:cNvPr id="6" name="Rounded Rectangle 5"/>
          <p:cNvSpPr/>
          <p:nvPr/>
        </p:nvSpPr>
        <p:spPr>
          <a:xfrm>
            <a:off x="8321040" y="310896"/>
            <a:ext cx="3246120" cy="310896"/>
          </a:xfrm>
          <a:prstGeom prst="roundRect">
            <a:avLst/>
          </a:prstGeom>
          <a:solidFill>
            <a:srgbClr val="E2E7FF"/>
          </a:solidFill>
          <a:ln w="10160">
            <a:solidFill>
              <a:srgbClr val="E2E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5632" y="370332"/>
            <a:ext cx="2926080" cy="146304"/>
          </a:xfrm>
          <a:prstGeom prst="rect">
            <a:avLst/>
          </a:prstGeom>
          <a:noFill/>
        </p:spPr>
        <p:txBody>
          <a:bodyPr wrap="square" lIns="27432" rIns="27432" tIns="18288" bIns="18288">
            <a:normAutofit/>
          </a:bodyPr>
          <a:lstStyle/>
          <a:p>
            <a:pPr algn="ctr">
              <a:lnSpc>
                <a:spcPct val="100000"/>
              </a:lnSpc>
              <a:defRPr sz="819" b="1">
                <a:solidFill>
                  <a:srgbClr val="212D5E"/>
                </a:solidFill>
                <a:latin typeface="Aptos"/>
              </a:defRPr>
            </a:pPr>
            <a:r>
              <a:t>Governance layer</a:t>
            </a:r>
          </a:p>
        </p:txBody>
      </p:sp>
      <p:sp>
        <p:nvSpPr>
          <p:cNvPr id="8" name="TextBox 7"/>
          <p:cNvSpPr txBox="1"/>
          <p:nvPr/>
        </p:nvSpPr>
        <p:spPr>
          <a:xfrm>
            <a:off x="658368" y="749808"/>
            <a:ext cx="6080760" cy="658368"/>
          </a:xfrm>
          <a:prstGeom prst="rect">
            <a:avLst/>
          </a:prstGeom>
          <a:noFill/>
        </p:spPr>
        <p:txBody>
          <a:bodyPr wrap="square" lIns="27432" rIns="27432" tIns="18288" bIns="18288">
            <a:normAutofit/>
          </a:bodyPr>
          <a:lstStyle/>
          <a:p>
            <a:pPr>
              <a:lnSpc>
                <a:spcPct val="100000"/>
              </a:lnSpc>
              <a:defRPr sz="2800" b="1">
                <a:solidFill>
                  <a:srgbClr val="212D5E"/>
                </a:solidFill>
                <a:latin typeface="Georgia"/>
              </a:defRPr>
            </a:pPr>
            <a:r>
              <a:t>Platform security + compliance</a:t>
            </a:r>
          </a:p>
        </p:txBody>
      </p:sp>
      <p:sp>
        <p:nvSpPr>
          <p:cNvPr id="9" name="TextBox 8"/>
          <p:cNvSpPr txBox="1"/>
          <p:nvPr/>
        </p:nvSpPr>
        <p:spPr>
          <a:xfrm>
            <a:off x="685800" y="1353312"/>
            <a:ext cx="5760720" cy="256032"/>
          </a:xfrm>
          <a:prstGeom prst="rect">
            <a:avLst/>
          </a:prstGeom>
          <a:noFill/>
        </p:spPr>
        <p:txBody>
          <a:bodyPr wrap="square" lIns="27432" rIns="27432" tIns="18288" bIns="18288">
            <a:normAutofit/>
          </a:bodyPr>
          <a:lstStyle/>
          <a:p>
            <a:pPr>
              <a:lnSpc>
                <a:spcPct val="100000"/>
              </a:lnSpc>
              <a:defRPr sz="1130" b="0">
                <a:solidFill>
                  <a:srgbClr val="5E5B54"/>
                </a:solidFill>
                <a:latin typeface="Aptos"/>
              </a:defRPr>
            </a:pPr>
            <a:r>
              <a:t>What it is, why it matters, and what it means for customers.</a:t>
            </a:r>
          </a:p>
        </p:txBody>
      </p:sp>
      <p:sp>
        <p:nvSpPr>
          <p:cNvPr id="10" name="Rounded Rectangle 9"/>
          <p:cNvSpPr/>
          <p:nvPr/>
        </p:nvSpPr>
        <p:spPr>
          <a:xfrm>
            <a:off x="6903720" y="804672"/>
            <a:ext cx="4617720" cy="2487168"/>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latform-security-and-compliance.png"/>
          <p:cNvPicPr>
            <a:picLocks noChangeAspect="1"/>
          </p:cNvPicPr>
          <p:nvPr/>
        </p:nvPicPr>
        <p:blipFill>
          <a:blip r:embed="rId2"/>
          <a:stretch>
            <a:fillRect/>
          </a:stretch>
        </p:blipFill>
        <p:spPr>
          <a:xfrm>
            <a:off x="7117582" y="950976"/>
            <a:ext cx="4189995" cy="2194560"/>
          </a:xfrm>
          <a:prstGeom prst="rect">
            <a:avLst/>
          </a:prstGeom>
        </p:spPr>
      </p:pic>
      <p:sp>
        <p:nvSpPr>
          <p:cNvPr id="12" name="TextBox 11"/>
          <p:cNvSpPr txBox="1"/>
          <p:nvPr/>
        </p:nvSpPr>
        <p:spPr>
          <a:xfrm>
            <a:off x="7114032" y="3090672"/>
            <a:ext cx="4160520" cy="164592"/>
          </a:xfrm>
          <a:prstGeom prst="rect">
            <a:avLst/>
          </a:prstGeom>
          <a:noFill/>
        </p:spPr>
        <p:txBody>
          <a:bodyPr wrap="square" lIns="27432" rIns="27432" tIns="18288" bIns="18288">
            <a:normAutofit/>
          </a:bodyPr>
          <a:lstStyle/>
          <a:p>
            <a:pPr algn="r">
              <a:lnSpc>
                <a:spcPct val="100000"/>
              </a:lnSpc>
              <a:defRPr sz="720" b="1">
                <a:solidFill>
                  <a:srgbClr val="FFFFFF"/>
                </a:solidFill>
                <a:latin typeface="Aptos"/>
              </a:defRPr>
            </a:pPr>
            <a:r>
              <a:t>Official Databricks blog image</a:t>
            </a:r>
          </a:p>
        </p:txBody>
      </p:sp>
      <p:sp>
        <p:nvSpPr>
          <p:cNvPr id="13" name="Rounded Rectangle 12"/>
          <p:cNvSpPr/>
          <p:nvPr/>
        </p:nvSpPr>
        <p:spPr>
          <a:xfrm>
            <a:off x="685800"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WHAT IT IS</a:t>
            </a:r>
          </a:p>
        </p:txBody>
      </p:sp>
      <p:sp>
        <p:nvSpPr>
          <p:cNvPr id="16" name="TextBox 15"/>
          <p:cNvSpPr txBox="1"/>
          <p:nvPr/>
        </p:nvSpPr>
        <p:spPr>
          <a:xfrm>
            <a:off x="886968" y="2212848"/>
            <a:ext cx="2551176" cy="365760"/>
          </a:xfrm>
          <a:prstGeom prst="rect">
            <a:avLst/>
          </a:prstGeom>
          <a:noFill/>
        </p:spPr>
        <p:txBody>
          <a:bodyPr wrap="square" lIns="27432" rIns="27432" tIns="18288" bIns="18288">
            <a:normAutofit/>
          </a:bodyPr>
          <a:lstStyle/>
          <a:p>
            <a:pPr>
              <a:lnSpc>
                <a:spcPct val="95000"/>
              </a:lnSpc>
              <a:defRPr sz="1090" b="0">
                <a:solidFill>
                  <a:srgbClr val="121217"/>
                </a:solidFill>
                <a:latin typeface="Aptos"/>
              </a:defRPr>
            </a:pPr>
            <a:r>
              <a:t>Databricks announced security and compliance updates for the platform.</a:t>
            </a:r>
          </a:p>
        </p:txBody>
      </p:sp>
      <p:sp>
        <p:nvSpPr>
          <p:cNvPr id="17" name="Rounded Rectangle 16"/>
          <p:cNvSpPr/>
          <p:nvPr/>
        </p:nvSpPr>
        <p:spPr>
          <a:xfrm>
            <a:off x="3730752" y="1828800"/>
            <a:ext cx="2880360" cy="8412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30752" y="1828800"/>
            <a:ext cx="91440" cy="8412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947672"/>
            <a:ext cx="2551176"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PROBLEM IT SOLVES</a:t>
            </a:r>
          </a:p>
        </p:txBody>
      </p:sp>
      <p:sp>
        <p:nvSpPr>
          <p:cNvPr id="20" name="TextBox 19"/>
          <p:cNvSpPr txBox="1"/>
          <p:nvPr/>
        </p:nvSpPr>
        <p:spPr>
          <a:xfrm>
            <a:off x="3931920" y="2212848"/>
            <a:ext cx="2551176" cy="365760"/>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AI cannot scale if security, identity, networking and compliance are bolted on afterwards. It solves the “what must be true before risk and procurement approve production AI?” problem.</a:t>
            </a:r>
          </a:p>
        </p:txBody>
      </p:sp>
      <p:sp>
        <p:nvSpPr>
          <p:cNvPr id="21" name="Rounded Rectangle 20"/>
          <p:cNvSpPr/>
          <p:nvPr/>
        </p:nvSpPr>
        <p:spPr>
          <a:xfrm>
            <a:off x="685800" y="2834640"/>
            <a:ext cx="5925312" cy="135331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2834640"/>
            <a:ext cx="91440" cy="135331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2953512"/>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WHY IT MATTERS</a:t>
            </a:r>
          </a:p>
        </p:txBody>
      </p:sp>
      <p:sp>
        <p:nvSpPr>
          <p:cNvPr id="24" name="TextBox 23"/>
          <p:cNvSpPr txBox="1"/>
          <p:nvPr/>
        </p:nvSpPr>
        <p:spPr>
          <a:xfrm>
            <a:off x="886968" y="3218688"/>
            <a:ext cx="5596128" cy="877824"/>
          </a:xfrm>
          <a:prstGeom prst="rect">
            <a:avLst/>
          </a:prstGeom>
          <a:noFill/>
        </p:spPr>
        <p:txBody>
          <a:bodyPr wrap="square" lIns="27432" rIns="27432" tIns="18288" bIns="18288">
            <a:normAutofit/>
          </a:bodyPr>
          <a:lstStyle/>
          <a:p>
            <a:pPr>
              <a:lnSpc>
                <a:spcPct val="95000"/>
              </a:lnSpc>
              <a:defRPr sz="990" b="0">
                <a:solidFill>
                  <a:srgbClr val="121217"/>
                </a:solidFill>
                <a:latin typeface="Aptos"/>
              </a:defRPr>
            </a:pPr>
            <a:r>
              <a:t>This is the boring-but-essential layer. Boards, CISOs and procurement teams will not approve AI at scale unless identity, private networking, zero-trust ingress, audit and compliance are credible. Security updates matter because they decide whether pilots can become production services.</a:t>
            </a:r>
          </a:p>
        </p:txBody>
      </p:sp>
      <p:sp>
        <p:nvSpPr>
          <p:cNvPr id="25" name="Rounded Rectangle 24"/>
          <p:cNvSpPr/>
          <p:nvPr/>
        </p:nvSpPr>
        <p:spPr>
          <a:xfrm>
            <a:off x="685800" y="4352544"/>
            <a:ext cx="5925312" cy="987552"/>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52544"/>
            <a:ext cx="91440" cy="987552"/>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471416"/>
            <a:ext cx="5596128" cy="228600"/>
          </a:xfrm>
          <a:prstGeom prst="rect">
            <a:avLst/>
          </a:prstGeom>
          <a:noFill/>
        </p:spPr>
        <p:txBody>
          <a:bodyPr wrap="square" lIns="27432" rIns="27432" tIns="18288" bIns="18288">
            <a:normAutofit/>
          </a:bodyPr>
          <a:lstStyle/>
          <a:p>
            <a:pPr>
              <a:lnSpc>
                <a:spcPct val="100000"/>
              </a:lnSpc>
              <a:defRPr sz="850" b="1">
                <a:solidFill>
                  <a:srgbClr val="5E5B54"/>
                </a:solidFill>
                <a:latin typeface="Aptos"/>
              </a:defRPr>
            </a:pPr>
            <a:r>
              <a:t>CUSTOMER IMPACT EXAMPLE</a:t>
            </a:r>
          </a:p>
        </p:txBody>
      </p:sp>
      <p:sp>
        <p:nvSpPr>
          <p:cNvPr id="28" name="TextBox 27"/>
          <p:cNvSpPr txBox="1"/>
          <p:nvPr/>
        </p:nvSpPr>
        <p:spPr>
          <a:xfrm>
            <a:off x="886968" y="4736592"/>
            <a:ext cx="5596128" cy="512064"/>
          </a:xfrm>
          <a:prstGeom prst="rect">
            <a:avLst/>
          </a:prstGeom>
          <a:noFill/>
        </p:spPr>
        <p:txBody>
          <a:bodyPr wrap="square" lIns="27432" rIns="27432" tIns="18288" bIns="18288">
            <a:normAutofit/>
          </a:bodyPr>
          <a:lstStyle/>
          <a:p>
            <a:pPr>
              <a:lnSpc>
                <a:spcPct val="95000"/>
              </a:lnSpc>
              <a:defRPr sz="1030" b="0">
                <a:solidFill>
                  <a:srgbClr val="121217"/>
                </a:solidFill>
                <a:latin typeface="Aptos"/>
              </a:defRPr>
            </a:pPr>
            <a:r>
              <a:t>Customer meaning: AI can be used in sensitive journeys — payments, identity, service, colleague tools — without asking customers to accept a weaker security posture.</a:t>
            </a:r>
          </a:p>
        </p:txBody>
      </p:sp>
      <p:sp>
        <p:nvSpPr>
          <p:cNvPr id="29" name="Rounded Rectangle 28"/>
          <p:cNvSpPr/>
          <p:nvPr/>
        </p:nvSpPr>
        <p:spPr>
          <a:xfrm>
            <a:off x="685800" y="5504688"/>
            <a:ext cx="5925312" cy="384048"/>
          </a:xfrm>
          <a:prstGeom prst="roundRect">
            <a:avLst/>
          </a:prstGeom>
          <a:solidFill>
            <a:srgbClr val="FFFFFF"/>
          </a:solidFill>
          <a:ln w="10160">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504688"/>
            <a:ext cx="91440" cy="384048"/>
          </a:xfrm>
          <a:prstGeom prst="rect">
            <a:avLst/>
          </a:prstGeom>
          <a:solidFill>
            <a:srgbClr val="AA2923"/>
          </a:solidFill>
          <a:ln w="10160">
            <a:solidFill>
              <a:srgbClr val="AA2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6968" y="5623559"/>
            <a:ext cx="5596128" cy="228600"/>
          </a:xfrm>
          <a:prstGeom prst="rect">
            <a:avLst/>
          </a:prstGeom>
          <a:noFill/>
        </p:spPr>
        <p:txBody>
          <a:bodyPr wrap="square" lIns="27432" rIns="27432" tIns="18288" bIns="18288">
            <a:normAutofit/>
          </a:bodyPr>
          <a:lstStyle/>
          <a:p>
            <a:pPr>
              <a:lnSpc>
                <a:spcPct val="100000"/>
              </a:lnSpc>
              <a:defRPr sz="720" b="1">
                <a:solidFill>
                  <a:srgbClr val="5E5B54"/>
                </a:solidFill>
                <a:latin typeface="Aptos"/>
              </a:defRPr>
            </a:pPr>
            <a:r>
              <a:t>WHAT CHANGED</a:t>
            </a:r>
          </a:p>
        </p:txBody>
      </p:sp>
      <p:sp>
        <p:nvSpPr>
          <p:cNvPr id="32" name="TextBox 31"/>
          <p:cNvSpPr txBox="1"/>
          <p:nvPr/>
        </p:nvSpPr>
        <p:spPr>
          <a:xfrm>
            <a:off x="886968" y="5888736"/>
            <a:ext cx="5596128" cy="-91440"/>
          </a:xfrm>
          <a:prstGeom prst="rect">
            <a:avLst/>
          </a:prstGeom>
          <a:noFill/>
        </p:spPr>
        <p:txBody>
          <a:bodyPr wrap="square" lIns="27432" rIns="27432" tIns="18288" bIns="18288">
            <a:normAutofit/>
          </a:bodyPr>
          <a:lstStyle/>
          <a:p>
            <a:pPr>
              <a:lnSpc>
                <a:spcPct val="95000"/>
              </a:lnSpc>
              <a:defRPr sz="780" b="0">
                <a:solidFill>
                  <a:srgbClr val="121217"/>
                </a:solidFill>
                <a:latin typeface="Aptos"/>
              </a:defRPr>
            </a:pPr>
            <a:r>
              <a:t>Identity, zero trust ingress, private networking and compliance coverage updates.</a:t>
            </a:r>
          </a:p>
        </p:txBody>
      </p:sp>
      <p:sp>
        <p:nvSpPr>
          <p:cNvPr id="33" name="Rounded Rectangle 32"/>
          <p:cNvSpPr/>
          <p:nvPr/>
        </p:nvSpPr>
        <p:spPr>
          <a:xfrm>
            <a:off x="6903720" y="3584448"/>
            <a:ext cx="4617720" cy="2194560"/>
          </a:xfrm>
          <a:prstGeom prst="roundRect">
            <a:avLst/>
          </a:prstGeom>
          <a:solidFill>
            <a:srgbClr val="212D5E"/>
          </a:solidFill>
          <a:ln w="10160">
            <a:solidFill>
              <a:srgbClr val="21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822191"/>
            <a:ext cx="4069080" cy="201168"/>
          </a:xfrm>
          <a:prstGeom prst="rect">
            <a:avLst/>
          </a:prstGeom>
          <a:noFill/>
        </p:spPr>
        <p:txBody>
          <a:bodyPr wrap="square" lIns="27432" rIns="27432" tIns="18288" bIns="18288">
            <a:normAutofit/>
          </a:bodyPr>
          <a:lstStyle/>
          <a:p>
            <a:pPr>
              <a:lnSpc>
                <a:spcPct val="100000"/>
              </a:lnSpc>
              <a:defRPr sz="869" b="1">
                <a:solidFill>
                  <a:srgbClr val="FFE2DB"/>
                </a:solidFill>
                <a:latin typeface="Aptos"/>
              </a:defRPr>
            </a:pPr>
            <a:r>
              <a:t>UK ENTERPRISE / SAINSBURY’S LENS</a:t>
            </a:r>
          </a:p>
        </p:txBody>
      </p:sp>
      <p:sp>
        <p:nvSpPr>
          <p:cNvPr id="35" name="TextBox 34"/>
          <p:cNvSpPr txBox="1"/>
          <p:nvPr/>
        </p:nvSpPr>
        <p:spPr>
          <a:xfrm>
            <a:off x="7187184" y="4151376"/>
            <a:ext cx="4041648" cy="1024128"/>
          </a:xfrm>
          <a:prstGeom prst="rect">
            <a:avLst/>
          </a:prstGeom>
          <a:noFill/>
        </p:spPr>
        <p:txBody>
          <a:bodyPr wrap="square" lIns="27432" rIns="27432" tIns="18288" bIns="18288">
            <a:normAutofit/>
          </a:bodyPr>
          <a:lstStyle/>
          <a:p>
            <a:pPr>
              <a:lnSpc>
                <a:spcPct val="95000"/>
              </a:lnSpc>
              <a:defRPr sz="1160" b="1">
                <a:solidFill>
                  <a:srgbClr val="FFFFFF"/>
                </a:solidFill>
                <a:latin typeface="Aptos"/>
              </a:defRPr>
            </a:pPr>
            <a:r>
              <a:t>UK boards will not scale AI on vibes. Identity, network isolation and compliance coverage are what turn pilots into approved production services.</a:t>
            </a:r>
          </a:p>
        </p:txBody>
      </p:sp>
      <p:sp>
        <p:nvSpPr>
          <p:cNvPr id="36" name="TextBox 35"/>
          <p:cNvSpPr txBox="1"/>
          <p:nvPr/>
        </p:nvSpPr>
        <p:spPr>
          <a:xfrm>
            <a:off x="7187184" y="5257800"/>
            <a:ext cx="4041648" cy="320040"/>
          </a:xfrm>
          <a:prstGeom prst="rect">
            <a:avLst/>
          </a:prstGeom>
          <a:noFill/>
        </p:spPr>
        <p:txBody>
          <a:bodyPr wrap="square" lIns="27432" rIns="27432" tIns="18288" bIns="18288">
            <a:normAutofit/>
          </a:bodyPr>
          <a:lstStyle/>
          <a:p>
            <a:pPr>
              <a:lnSpc>
                <a:spcPct val="100000"/>
              </a:lnSpc>
              <a:defRPr sz="960" b="1">
                <a:solidFill>
                  <a:srgbClr val="FFE2DB"/>
                </a:solidFill>
                <a:latin typeface="Georgia"/>
              </a:defRPr>
            </a:pPr>
            <a:r>
              <a:t>So what: It can reduce procurement friction when the controls are real and documented.</a:t>
            </a:r>
          </a:p>
        </p:txBody>
      </p:sp>
      <p:sp>
        <p:nvSpPr>
          <p:cNvPr id="37" name="TextBox 36"/>
          <p:cNvSpPr txBox="1"/>
          <p:nvPr/>
        </p:nvSpPr>
        <p:spPr>
          <a:xfrm>
            <a:off x="475488" y="6537960"/>
            <a:ext cx="11155680" cy="182880"/>
          </a:xfrm>
          <a:prstGeom prst="rect">
            <a:avLst/>
          </a:prstGeom>
          <a:noFill/>
        </p:spPr>
        <p:txBody>
          <a:bodyPr wrap="square" lIns="27432" rIns="27432" tIns="18288" bIns="18288">
            <a:normAutofit/>
          </a:bodyPr>
          <a:lstStyle/>
          <a:p>
            <a:pPr>
              <a:lnSpc>
                <a:spcPct val="100000"/>
              </a:lnSpc>
              <a:defRPr sz="670" b="0">
                <a:solidFill>
                  <a:srgbClr val="5E5B54"/>
                </a:solidFill>
                <a:latin typeface="Aptos"/>
              </a:defRPr>
            </a:pPr>
            <a:r>
              <a:t>18/18 · Official Databricks source: https://www.databricks.com/blog/whats-new-databricks-platform-security-and-compliance-data-ai-summit-2026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