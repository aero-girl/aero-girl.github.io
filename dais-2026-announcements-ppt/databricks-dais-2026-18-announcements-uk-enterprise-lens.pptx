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AA29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Governance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Unity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nity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Unity Catalog is Databricks governance for data, models, agents and tools.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gives teams one place to control access, meaning and audit trails.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New AI Gateway links, policy updates, better glossary and domain support, external lineage, file support and wider governance links.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For a UK enterprise like Sainsbury’s, this is the audit spine: customer, supplier, colleague and operational data can be reused by AI without losing ownership, lineage or permission controls.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AA2923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cut review time because security and data teams work from one rule book.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01/18 · Official Databricks source: https://www.databricks.com/blog/whats-new-unity-catalog-data-ai-summit-2026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AA29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Governance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Unity AI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nity-ai-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106633"/>
            <a:ext cx="4325112" cy="22307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Unity AI Gateway controls how models, agents and tools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helps stop agent sprawl, surprise bills and unsafe tool 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Runtime controls for models and agents, spend caps, smart routing, MCP controls and traces.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This is the control plane procurement will ask for: which models are allowed, what they cost, what tools they can touch, and who is accountable when an agent acts.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AA2923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gives platform teams a way to approve AI use without approving every tool one by 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02/18 · Official Databricks source: https://www.databricks.com/blog/ai-governance-data-ai-summit-2026-whats-new-unity-ai-gateway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B64FF"/>
          </a:solidFill>
          <a:ln w="10160">
            <a:solidFill>
              <a:srgbClr val="4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4B64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Agent build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Agent Bricks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gent-bri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4B64FF"/>
          </a:solidFill>
          <a:ln w="10160">
            <a:solidFill>
              <a:srgbClr val="4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Agent Bricks is Databricks platform for building and running AI agents.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4B64FF"/>
          </a:solidFill>
          <a:ln w="10160">
            <a:solidFill>
              <a:srgbClr val="4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turns agent work from scattered experiments into a managed build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4B64FF"/>
          </a:solidFill>
          <a:ln w="10160">
            <a:solidFill>
              <a:srgbClr val="4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More model choice, more context connectors, Lakebase memory, Unity AI Gateway control and agent tracing.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It gives teams a path from “clever demo” to repeatable domain agents for planning, service, supply chain or store operations without every squad inventing its own stack.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4B64FF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should reduce repeated setup work for teams building agents.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03/18 · Official Databricks source: https://www.databricks.com/blog/agent-bricks-dais-2026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7A47B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Business AI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Genie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ie-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Genie One is an AI coworker for business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lets people ask questions and trigger work without waiting for a SQL expert.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A business user agent, tool actions, enterprise context and workflow support through Genie Ontology.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Business teams get a safer way to ask questions and kick off work from governed data, useful for trading, availability, marketing and customer teams that cannot wait in BI queues.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7A47B4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move routine analysis out of analyst queues.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04/18 · Official Databricks source: https://www.databricks.com/blog/introducing-genie-one-genie-ontology-and-genie-agents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7A47B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Business AI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Genie Ontology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ie-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Genie Ontology is a living map of business meaning.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helps agents understand which data and definitions to trust.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A semantic graph built from tables, dashboards, queries, apps, usage and ownership signals.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This matters because UK retailers and banks argue over definitions: sales, margin, availability, churn, loyalty and consent. Agents need the business meaning, not just tables.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7A47B4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reduce metric disputes and improve answer quality.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05/18 · Official Databricks source: https://www.databricks.com/blog/introducing-genie-one-genie-ontology-and-genie-agents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7A47B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Business AI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Genie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ie-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Genie Agents are conversational agents for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They let users ask governed data questions in plain English.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7A47B4"/>
          </a:solidFill>
          <a:ln w="10160">
            <a:solidFill>
              <a:srgbClr val="7A4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Ontology grounded answers, permission checks and sharable analytics agents.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This can turn trusted analytics into reusable assistants for category teams, store ops, finance and contact centres, while keeping permissions and definitions intact.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7A47B4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They can reduce BI bottlenecks while keeping access controls in place.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06/18 · Official Databricks source: https://www.databricks.com/blog/introducing-genie-one-genie-ontology-and-genie-agents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7C80"/>
          </a:solidFill>
          <a:ln w="10160"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007C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Real-time 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Lakehouse 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kehouse-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029"/>
            <a:ext cx="4325112" cy="22639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007C80"/>
          </a:solidFill>
          <a:ln w="10160"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Lakehouse RT brings low latency analytics directly to lakehouse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007C80"/>
          </a:solidFill>
          <a:ln w="10160"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helps apps and agents use fresher data without a separate serving store.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007C80"/>
          </a:solidFill>
          <a:ln w="10160"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The Reyden engine, direct Delta and Iceberg reads, millisecond query claims and less need for a separate real time serving layer.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Fresh data is the difference between a useful agent and a stale dashboard. Think stock availability, fraud signals, fulfilment exceptions and customer interventions.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007C80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simplify real time architecture if the claims hold for the workload.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07/18 · Official Databricks source: https://www.databricks.com/blog/introducing-lakehousert-real-time-performance-unified-lakehouse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7368"/>
          </a:solidFill>
          <a:ln w="10160">
            <a:solidFill>
              <a:srgbClr val="007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00736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Operational 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2800" b="1">
                <a:solidFill>
                  <a:srgbClr val="212D5E"/>
                </a:solidFill>
                <a:latin typeface="Georgia"/>
              </a:defRPr>
            </a:pPr>
            <a:r>
              <a:t>LTAP, Lakebase + disaster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tap-lakebase-and-multi-cloud-disaster-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007368"/>
          </a:solidFill>
          <a:ln w="10160">
            <a:solidFill>
              <a:srgbClr val="007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LTAP gives apps, analytics and agents one governed system of record across transactions and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007368"/>
          </a:solidFill>
          <a:ln w="10160">
            <a:solidFill>
              <a:srgbClr val="007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cuts the gap between app data and analytics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007368"/>
          </a:solidFill>
          <a:ln w="10160">
            <a:solidFill>
              <a:srgbClr val="007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LTAP, Lakebase as the transactional layer, disaster recovery, branching and snapshots.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Operational AI needs state: orders, cases, tasks, memory, approvals. Lakebase points Databricks closer to app-facing systems, not just analytics.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007368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reduce data copies, failover work and engineering time if the production limits match the workload.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08/18 · Official Databricks source: https://www.databricks.com/company/newsroom/press-releases/databricks-launches-ltap-first-lake-transactionalanalytical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06998"/>
          </a:solidFill>
          <a:ln w="10160"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30699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Data engineering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Lakeflow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ke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306998"/>
          </a:solidFill>
          <a:ln w="10160"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Lakeflow is Databricks data engineering platform for ingestion, transform and orchestration.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306998"/>
          </a:solidFill>
          <a:ln w="10160"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AI needs fresh and reliable data before anything clever matters.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306998"/>
          </a:solidFill>
          <a:ln w="10160"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More connectors, Designer, Genie Code help, Zerobus ingest and Lakeflow Jobs.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Most AI programmes fail quietly in the plumbing. Faster governed ingestion and orchestration means less time stitching pipelines and more time shipping use cases.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306998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reduce pipeline build time and tool sprawl.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09/18 · Official Databricks source: https://www.databricks.com/blog/lakeflow-new-era-agentic-data-engineering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9671E"/>
          </a:solidFill>
          <a:ln w="10160">
            <a:solidFill>
              <a:srgbClr val="C96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C9671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Operations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Genie ZeroOps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ie-zer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029"/>
            <a:ext cx="4325112" cy="22639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C9671E"/>
          </a:solidFill>
          <a:ln w="10160">
            <a:solidFill>
              <a:srgbClr val="C96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Genie ZeroOps watches production data and AI workloads.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C9671E"/>
          </a:solidFill>
          <a:ln w="10160">
            <a:solidFill>
              <a:srgbClr val="C96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helps teams spot issues before humans have to dig through logs.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C9671E"/>
          </a:solidFill>
          <a:ln w="10160">
            <a:solidFill>
              <a:srgbClr val="C96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Background checks, issue investigation, cloned data testing and suggested fixes.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AI estates will create more moving parts, not fewer. Automated monitoring and suggested fixes help small platform teams keep production workloads healthy.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C9671E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cut triage time, but human approval still matters.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10/18 · Official Databricks source: https://www.databricks.com/blog/introducing-genie-zeroops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85473"/>
          </a:solidFill>
          <a:ln w="10160">
            <a:solidFill>
              <a:srgbClr val="48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4854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Developer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Genie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ie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485473"/>
          </a:solidFill>
          <a:ln w="10160">
            <a:solidFill>
              <a:srgbClr val="48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Genie Code is a coding agent for data and ML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485473"/>
          </a:solidFill>
          <a:ln w="10160">
            <a:solidFill>
              <a:srgbClr val="48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helps with notebooks, pipelines, docs and routine code tasks.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485473"/>
          </a:solidFill>
          <a:ln w="10160">
            <a:solidFill>
              <a:srgbClr val="48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A full page workspace, MLflow context, endpoint checks, scheduled tasks and GPU runtime switching.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Data engineers and ML teams get a helper for notebooks, pipelines and docs. Useful, but only if code review and production gates stay non-negotiable.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485473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save engineering time if teams keep review gates in place.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11/18 · Official Databricks source: https://www.databricks.com/blog/whats-new-genie-code-data-ai-summit-2026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85473"/>
          </a:solidFill>
          <a:ln w="10160">
            <a:solidFill>
              <a:srgbClr val="48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4854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Developer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Genie Code + ZeroOps for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ie-code-and-zeroops-for-ml-and-data-sc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485473"/>
          </a:solidFill>
          <a:ln w="10160">
            <a:solidFill>
              <a:srgbClr val="48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Databricks added agent help for ML engineering, model serving and model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485473"/>
          </a:solidFill>
          <a:ln w="10160">
            <a:solidFill>
              <a:srgbClr val="48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Data science teams lose time moving between code, serving, monitoring and fixes.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485473"/>
          </a:solidFill>
          <a:ln w="10160">
            <a:solidFill>
              <a:srgbClr val="48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Genie Code for ML work, Genie ZeroOps for ML, online feature serving on Lakebase and model serving updates.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For mature UK firms, this compresses the slog between experiment, serving, monitoring and remediation — where many ML projects get stuck.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485473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speed model iteration and cut operations work, but teams still need review gates.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12/18 · Official Databricks source: https://www.databricks.com/blog/whats-new-ai-platform-agents-ml-engineering-our-deep-learning-platform-and-new-capabilities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636F2C"/>
          </a:solidFill>
          <a:ln w="10160">
            <a:solidFill>
              <a:srgbClr val="636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636F2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Distribution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2800" b="1">
                <a:solidFill>
                  <a:srgbClr val="212D5E"/>
                </a:solidFill>
                <a:latin typeface="Georgia"/>
              </a:defRPr>
            </a:pPr>
            <a:r>
              <a:t>Apps on Databricks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pps-on-databricks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2484"/>
            <a:ext cx="4325112" cy="22590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636F2C"/>
          </a:solidFill>
          <a:ln w="10160">
            <a:solidFill>
              <a:srgbClr val="636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Marketplace apps run third party tools on governed Databricks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636F2C"/>
          </a:solidFill>
          <a:ln w="10160">
            <a:solidFill>
              <a:srgbClr val="636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It is safer than copying data out to every vendor.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636F2C"/>
          </a:solidFill>
          <a:ln w="10160">
            <a:solidFill>
              <a:srgbClr val="636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One click install, permission checks, serverless provisioning and app sandboxing.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Vendor apps can run closer to governed data instead of demanding another risky data export. That is a big deal for customer, loyalty and regulated datasets.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636F2C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shorten vendor setup and reduce data export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13/18 · Official Databricks source: https://www.databricks.com/blog/announcing-apps-databricks-marketplace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94492D"/>
          </a:solidFill>
          <a:ln w="10160">
            <a:solidFill>
              <a:srgbClr val="94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94492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App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2800" b="1">
                <a:solidFill>
                  <a:srgbClr val="212D5E"/>
                </a:solidFill>
                <a:latin typeface="Georgia"/>
              </a:defRPr>
            </a:pPr>
            <a:r>
              <a:t>App Spaces + Genie App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ie-app-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1760"/>
            <a:ext cx="4325112" cy="22604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94492D"/>
          </a:solidFill>
          <a:ln w="10160">
            <a:solidFill>
              <a:srgbClr val="94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Databricks announced three app-building capabilities: App Spaces for governance, Genie App Builder for natural-language app creation, and a lightweight micro app runtime for cheaper scale-to-zero apps.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94492D"/>
          </a:solidFill>
          <a:ln w="10160">
            <a:solidFill>
              <a:srgbClr val="94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Developers and business teams want small apps quickly, but IT still needs control, cost discipline and safe access to governed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94492D"/>
          </a:solidFill>
          <a:ln w="10160">
            <a:solidFill>
              <a:srgbClr val="94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App Spaces for governing groups of apps, Genie App Builder as the data-aware build agent, and a lightweight micro app runtime for cheaper scale-to-zero apps.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Small internal apps are where AI becomes daily work. This offers a route to build them quickly without bypassing IT, security or data governance.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94492D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cut small app backlogs without copying data out of Databricks.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14/18 · Official Databricks source: https://www.databricks.com/blog/enabling-governed-vibe-coding-enterprise-apps-databricks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763957"/>
          </a:solidFill>
          <a:ln w="10160">
            <a:solidFill>
              <a:srgbClr val="76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76395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Industry solution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CustomerLake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ustomerl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763957"/>
          </a:solidFill>
          <a:ln w="10160">
            <a:solidFill>
              <a:srgbClr val="76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CustomerLake is Databricks agentic customer data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763957"/>
          </a:solidFill>
          <a:ln w="10160">
            <a:solidFill>
              <a:srgbClr val="76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Marketing teams need customer data that agents can use safely.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763957"/>
          </a:solidFill>
          <a:ln w="10160">
            <a:solidFill>
              <a:srgbClr val="76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CustomerLake, Golden Context, marketing agents and agentic CDP workflows inside Databricks.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Customer AI needs consent-aware, joined-up context. This is directly relevant to loyalty, next-best-action, personalisation and service journeys.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763957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reduce customer data platform sprawl and speed personalisation, but consent and governance need tight ownership.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15/18 · Official Databricks source: https://www.databricks.com/blog/introducing-customerlake-agentic-cdp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B495B"/>
          </a:solidFill>
          <a:ln w="10160">
            <a:solidFill>
              <a:srgbClr val="2B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2B495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Observability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Lakewatch + Panther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kewatch-and-pan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86650"/>
            <a:ext cx="4325112" cy="22706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2B495B"/>
          </a:solidFill>
          <a:ln w="10160">
            <a:solidFill>
              <a:srgbClr val="2B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Lakewatch is Databricks agentic SIEM built on a security lakehouse.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2B495B"/>
          </a:solidFill>
          <a:ln w="10160">
            <a:solidFill>
              <a:srgbClr val="2B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Security teams need full history and agent help without SIEM costs getting silly.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2B495B"/>
          </a:solidFill>
          <a:ln w="10160">
            <a:solidFill>
              <a:srgbClr val="2B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Lakewatch, Panther ecosystem links, security data connectors, AI assisted investigation and open security lakehouse positioning.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Security teams need cheaper retention and faster investigation as AI expands the attack surface. A lakehouse SIEM story could change the economics.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2B495B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reduce security storage pressure and help analysts investigate faster, if connector coverage and detection quality are good enough.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16/18 · Official Databricks source: https://www.databricks.com/blog/databricks-announces-lakewatch-new-agentic-siem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67409D"/>
          </a:solidFill>
          <a:ln w="10160">
            <a:solidFill>
              <a:srgbClr val="674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67409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Agent operations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3300" b="1">
                <a:solidFill>
                  <a:srgbClr val="212D5E"/>
                </a:solidFill>
                <a:latin typeface="Georgia"/>
              </a:defRPr>
            </a:pPr>
            <a:r>
              <a:t>Omnigent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mni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90254"/>
            <a:ext cx="4325112" cy="2263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67409D"/>
          </a:solidFill>
          <a:ln w="10160">
            <a:solidFill>
              <a:srgbClr val="674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Omnigent is an open source harness for working with different agents.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67409D"/>
          </a:solidFill>
          <a:ln w="10160">
            <a:solidFill>
              <a:srgbClr val="674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Teams already have many agents and need one way to control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67409D"/>
          </a:solidFill>
          <a:ln w="10160">
            <a:solidFill>
              <a:srgbClr val="674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A shared harness for composing, controlling and sharing agents with sandbox patterns.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Agent sprawl is coming. A harness for comparing, composing and controlling agents helps platform teams avoid twenty disconnected assistants.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67409D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reduce agent sprawl, though it adds another layer to manage.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17/18 · Official Databricks source: https://www.databricks.com/blog/introducing-omnigent-meta-harness-combine-control-and-share-your-agents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237744" cy="6675120"/>
          </a:xfrm>
          <a:prstGeom prst="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40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400" b="1">
                <a:solidFill>
                  <a:srgbClr val="AA2923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4048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DATABRICKS DATA + AI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10896"/>
            <a:ext cx="3246120" cy="310896"/>
          </a:xfrm>
          <a:prstGeom prst="roundRect">
            <a:avLst/>
          </a:prstGeom>
          <a:solidFill>
            <a:srgbClr val="E2E7FF"/>
          </a:solidFill>
          <a:ln w="10160">
            <a:solidFill>
              <a:srgbClr val="E2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370332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defRPr sz="819" b="1">
                <a:solidFill>
                  <a:srgbClr val="212D5E"/>
                </a:solidFill>
                <a:latin typeface="Aptos"/>
              </a:defRPr>
            </a:pPr>
            <a:r>
              <a:t>Governance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608076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2800" b="1">
                <a:solidFill>
                  <a:srgbClr val="212D5E"/>
                </a:solidFill>
                <a:latin typeface="Georgia"/>
              </a:defRPr>
            </a:pPr>
            <a:r>
              <a:t>Platform security +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5486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130" b="0">
                <a:solidFill>
                  <a:srgbClr val="5E5B54"/>
                </a:solidFill>
                <a:latin typeface="Aptos"/>
              </a:defRPr>
            </a:pPr>
            <a:r>
              <a:t>What it is, why it matters, and why a UK enterprise should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804672"/>
            <a:ext cx="4617720" cy="28346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tform-security-and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089327"/>
            <a:ext cx="4325112" cy="2265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4032" y="3438144"/>
            <a:ext cx="4160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defRPr sz="720" b="1">
                <a:solidFill>
                  <a:srgbClr val="FFFFFF"/>
                </a:solidFill>
                <a:latin typeface="Aptos"/>
              </a:defRPr>
            </a:pPr>
            <a:r>
              <a:t>Official Databricks blog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91440" cy="1078992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Databricks announced security and compliance updates for the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828800"/>
            <a:ext cx="28803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0752" y="1828800"/>
            <a:ext cx="91440" cy="1078992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947672"/>
            <a:ext cx="25511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12848"/>
            <a:ext cx="2551176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Security approval is often the slowest part of AI rollouts.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59253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91440" cy="1078992"/>
          </a:xfrm>
          <a:prstGeom prst="rect">
            <a:avLst/>
          </a:prstGeom>
          <a:solidFill>
            <a:srgbClr val="AA2923"/>
          </a:solidFill>
          <a:ln w="10160">
            <a:solidFill>
              <a:srgbClr val="AA2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9544"/>
            <a:ext cx="5596128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50" b="1">
                <a:solidFill>
                  <a:srgbClr val="5E5B5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74720"/>
            <a:ext cx="5596128" cy="60350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280" b="0">
                <a:solidFill>
                  <a:srgbClr val="121217"/>
                </a:solidFill>
                <a:latin typeface="Aptos"/>
              </a:defRPr>
            </a:pPr>
            <a:r>
              <a:t>Identity, zero trust ingress, private networking and compliance coverage updates.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13632"/>
            <a:ext cx="4617720" cy="1920240"/>
          </a:xfrm>
          <a:prstGeom prst="roundRect">
            <a:avLst/>
          </a:prstGeom>
          <a:solidFill>
            <a:srgbClr val="212D5E"/>
          </a:solidFill>
          <a:ln w="10160">
            <a:solidFill>
              <a:srgbClr val="21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4069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69" b="1">
                <a:solidFill>
                  <a:srgbClr val="FFE2DB"/>
                </a:solidFill>
                <a:latin typeface="Aptos"/>
              </a:defRPr>
            </a:pPr>
            <a:r>
              <a:t>WHY A UK ENTERPRISE SHOULD PAY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480560"/>
            <a:ext cx="4041648" cy="10607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95000"/>
              </a:lnSpc>
              <a:defRPr sz="1380" b="1">
                <a:solidFill>
                  <a:srgbClr val="FFFFFF"/>
                </a:solidFill>
                <a:latin typeface="Aptos"/>
              </a:defRPr>
            </a:pPr>
            <a:r>
              <a:t>UK boards will not scale AI on vibes. Identity, network isolation and compliance coverage are what turn pilots into approved production services.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70832"/>
            <a:ext cx="5925312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819" b="1">
                <a:solidFill>
                  <a:srgbClr val="AA2923"/>
                </a:solidFill>
                <a:latin typeface="Aptos"/>
              </a:defRPr>
            </a:pPr>
            <a:r>
              <a:t>MOVE-THE-NEEDLE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19472"/>
            <a:ext cx="5349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121217"/>
                </a:solidFill>
                <a:latin typeface="Georgia"/>
              </a:defRPr>
            </a:pPr>
            <a:r>
              <a:t>It can reduce procurement friction when the controls are real and documented.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37960"/>
            <a:ext cx="11155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defRPr sz="670" b="0">
                <a:solidFill>
                  <a:srgbClr val="5E5B54"/>
                </a:solidFill>
                <a:latin typeface="Aptos"/>
              </a:defRPr>
            </a:pPr>
            <a:r>
              <a:t>18/18 · Official Databricks source: https://www.databricks.com/blog/whats-new-databricks-platform-security-and-compliance-data-ai-summit-2026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