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AA2923"/>
                </a:solidFill>
                <a:latin typeface="Aptos"/>
              </a:defRPr>
            </a:pPr>
            <a:r>
              <a:t>01</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Governance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3300" b="1">
                <a:solidFill>
                  <a:srgbClr val="212D5E"/>
                </a:solidFill>
                <a:latin typeface="Georgia"/>
              </a:defRPr>
            </a:pPr>
            <a:r>
              <a:t>Unity Catalog</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nity-catalog.png"/>
          <p:cNvPicPr>
            <a:picLocks noChangeAspect="1"/>
          </p:cNvPicPr>
          <p:nvPr/>
        </p:nvPicPr>
        <p:blipFill>
          <a:blip r:embed="rId2"/>
          <a:stretch>
            <a:fillRect/>
          </a:stretch>
        </p:blipFill>
        <p:spPr>
          <a:xfrm>
            <a:off x="7115866" y="950976"/>
            <a:ext cx="4193426"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932688"/>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457200"/>
          </a:xfrm>
          <a:prstGeom prst="rect">
            <a:avLst/>
          </a:prstGeom>
          <a:noFill/>
        </p:spPr>
        <p:txBody>
          <a:bodyPr wrap="square" lIns="27432" rIns="27432" tIns="18288" bIns="18288">
            <a:normAutofit/>
          </a:bodyPr>
          <a:lstStyle/>
          <a:p>
            <a:pPr>
              <a:lnSpc>
                <a:spcPct val="95000"/>
              </a:lnSpc>
              <a:defRPr sz="1120" b="0">
                <a:solidFill>
                  <a:srgbClr val="121217"/>
                </a:solidFill>
                <a:latin typeface="Aptos"/>
              </a:defRPr>
            </a:pPr>
            <a:r>
              <a:t>Unity Catalog is Databricks governance for data, models, agents and tools.</a:t>
            </a:r>
          </a:p>
        </p:txBody>
      </p:sp>
      <p:sp>
        <p:nvSpPr>
          <p:cNvPr id="17" name="Rounded Rectangle 16"/>
          <p:cNvSpPr/>
          <p:nvPr/>
        </p:nvSpPr>
        <p:spPr>
          <a:xfrm>
            <a:off x="3730752"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932688"/>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CHANGED</a:t>
            </a:r>
          </a:p>
        </p:txBody>
      </p:sp>
      <p:sp>
        <p:nvSpPr>
          <p:cNvPr id="20" name="TextBox 19"/>
          <p:cNvSpPr txBox="1"/>
          <p:nvPr/>
        </p:nvSpPr>
        <p:spPr>
          <a:xfrm>
            <a:off x="3931920" y="2212848"/>
            <a:ext cx="2551176" cy="457200"/>
          </a:xfrm>
          <a:prstGeom prst="rect">
            <a:avLst/>
          </a:prstGeom>
          <a:noFill/>
        </p:spPr>
        <p:txBody>
          <a:bodyPr wrap="square" lIns="27432" rIns="27432" tIns="18288" bIns="18288">
            <a:normAutofit/>
          </a:bodyPr>
          <a:lstStyle/>
          <a:p>
            <a:pPr>
              <a:lnSpc>
                <a:spcPct val="95000"/>
              </a:lnSpc>
              <a:defRPr sz="1070" b="0">
                <a:solidFill>
                  <a:srgbClr val="121217"/>
                </a:solidFill>
                <a:latin typeface="Aptos"/>
              </a:defRPr>
            </a:pPr>
            <a:r>
              <a:t>New AI Gateway links, policy updates, better glossary and domain support, external lineage, file support and wider governance links.</a:t>
            </a:r>
          </a:p>
        </p:txBody>
      </p:sp>
      <p:sp>
        <p:nvSpPr>
          <p:cNvPr id="21" name="Rounded Rectangle 20"/>
          <p:cNvSpPr/>
          <p:nvPr/>
        </p:nvSpPr>
        <p:spPr>
          <a:xfrm>
            <a:off x="685800" y="2944368"/>
            <a:ext cx="5925312" cy="157276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944368"/>
            <a:ext cx="91440" cy="1572768"/>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063240"/>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328416"/>
            <a:ext cx="5596128" cy="109728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This is the bit that makes AI reusable, not just impressive in a demo. If the same customer, product or supplier data is used by analytics, agents and apps, leaders need one place to define who can use it, what it means and where it came from. Without that, every AI answer becomes another reconciliation meeting.</a:t>
            </a:r>
          </a:p>
        </p:txBody>
      </p:sp>
      <p:sp>
        <p:nvSpPr>
          <p:cNvPr id="25" name="Rounded Rectangle 24"/>
          <p:cNvSpPr/>
          <p:nvPr/>
        </p:nvSpPr>
        <p:spPr>
          <a:xfrm>
            <a:off x="685800" y="4700016"/>
            <a:ext cx="5925312" cy="107899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700016"/>
            <a:ext cx="91440" cy="1078992"/>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818888"/>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MEANS TO CUSTOMERS</a:t>
            </a:r>
          </a:p>
        </p:txBody>
      </p:sp>
      <p:sp>
        <p:nvSpPr>
          <p:cNvPr id="28" name="TextBox 27"/>
          <p:cNvSpPr txBox="1"/>
          <p:nvPr/>
        </p:nvSpPr>
        <p:spPr>
          <a:xfrm>
            <a:off x="886968" y="5084064"/>
            <a:ext cx="5596128" cy="603503"/>
          </a:xfrm>
          <a:prstGeom prst="rect">
            <a:avLst/>
          </a:prstGeom>
          <a:noFill/>
        </p:spPr>
        <p:txBody>
          <a:bodyPr wrap="square" lIns="27432" rIns="27432" tIns="18288" bIns="18288">
            <a:normAutofit/>
          </a:bodyPr>
          <a:lstStyle/>
          <a:p>
            <a:pPr>
              <a:lnSpc>
                <a:spcPct val="95000"/>
              </a:lnSpc>
              <a:defRPr sz="1110" b="0">
                <a:solidFill>
                  <a:srgbClr val="121217"/>
                </a:solidFill>
                <a:latin typeface="Aptos"/>
              </a:defRPr>
            </a:pPr>
            <a:r>
              <a:t>Customer meaning: fewer wrong offers, fewer inconsistent service answers, and less risk that sensitive loyalty or colleague data leaks into the wrong AI workflow.</a:t>
            </a:r>
          </a:p>
        </p:txBody>
      </p:sp>
      <p:sp>
        <p:nvSpPr>
          <p:cNvPr id="29" name="Rounded Rectangle 28"/>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1" name="TextBox 30"/>
          <p:cNvSpPr txBox="1"/>
          <p:nvPr/>
        </p:nvSpPr>
        <p:spPr>
          <a:xfrm>
            <a:off x="7187184" y="4151376"/>
            <a:ext cx="4041648" cy="1078992"/>
          </a:xfrm>
          <a:prstGeom prst="rect">
            <a:avLst/>
          </a:prstGeom>
          <a:noFill/>
        </p:spPr>
        <p:txBody>
          <a:bodyPr wrap="square" lIns="27432" rIns="27432" tIns="18288" bIns="18288">
            <a:normAutofit/>
          </a:bodyPr>
          <a:lstStyle/>
          <a:p>
            <a:pPr>
              <a:lnSpc>
                <a:spcPct val="95000"/>
              </a:lnSpc>
              <a:defRPr sz="1230" b="1">
                <a:solidFill>
                  <a:srgbClr val="FFFFFF"/>
                </a:solidFill>
                <a:latin typeface="Aptos"/>
              </a:defRPr>
            </a:pPr>
            <a:r>
              <a:t>For a UK enterprise like Sainsbury’s, this is the audit spine: customer, supplier, colleague and operational data can be reused by AI without losing ownership, lineage or permission controls.</a:t>
            </a:r>
          </a:p>
        </p:txBody>
      </p:sp>
      <p:sp>
        <p:nvSpPr>
          <p:cNvPr id="32" name="TextBox 31"/>
          <p:cNvSpPr txBox="1"/>
          <p:nvPr/>
        </p:nvSpPr>
        <p:spPr>
          <a:xfrm>
            <a:off x="7187184" y="5303520"/>
            <a:ext cx="4041648" cy="274320"/>
          </a:xfrm>
          <a:prstGeom prst="rect">
            <a:avLst/>
          </a:prstGeom>
          <a:noFill/>
        </p:spPr>
        <p:txBody>
          <a:bodyPr wrap="square" lIns="27432" rIns="27432" tIns="18288" bIns="18288">
            <a:normAutofit/>
          </a:bodyPr>
          <a:lstStyle/>
          <a:p>
            <a:pPr>
              <a:lnSpc>
                <a:spcPct val="100000"/>
              </a:lnSpc>
              <a:defRPr sz="1050" b="1">
                <a:solidFill>
                  <a:srgbClr val="FFE2DB"/>
                </a:solidFill>
                <a:latin typeface="Georgia"/>
              </a:defRPr>
            </a:pPr>
            <a:r>
              <a:t>So what: It can cut review time because security and data teams work from one rule book.</a:t>
            </a:r>
          </a:p>
        </p:txBody>
      </p:sp>
      <p:sp>
        <p:nvSpPr>
          <p:cNvPr id="33" name="TextBox 32"/>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01/18 · Official Databricks source: https://www.databricks.com/blog/whats-new-unity-catalog-data-ai-summit-2026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AA2923"/>
                </a:solidFill>
                <a:latin typeface="Aptos"/>
              </a:defRPr>
            </a:pPr>
            <a:r>
              <a:t>02</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Governance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3300" b="1">
                <a:solidFill>
                  <a:srgbClr val="212D5E"/>
                </a:solidFill>
                <a:latin typeface="Georgia"/>
              </a:defRPr>
            </a:pPr>
            <a:r>
              <a:t>Unity AI Gateway</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nity-ai-gateway.png"/>
          <p:cNvPicPr>
            <a:picLocks noChangeAspect="1"/>
          </p:cNvPicPr>
          <p:nvPr/>
        </p:nvPicPr>
        <p:blipFill>
          <a:blip r:embed="rId2"/>
          <a:stretch>
            <a:fillRect/>
          </a:stretch>
        </p:blipFill>
        <p:spPr>
          <a:xfrm>
            <a:off x="7085076" y="950976"/>
            <a:ext cx="4255008"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932688"/>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457200"/>
          </a:xfrm>
          <a:prstGeom prst="rect">
            <a:avLst/>
          </a:prstGeom>
          <a:noFill/>
        </p:spPr>
        <p:txBody>
          <a:bodyPr wrap="square" lIns="27432" rIns="27432" tIns="18288" bIns="18288">
            <a:normAutofit/>
          </a:bodyPr>
          <a:lstStyle/>
          <a:p>
            <a:pPr>
              <a:lnSpc>
                <a:spcPct val="95000"/>
              </a:lnSpc>
              <a:defRPr sz="1120" b="0">
                <a:solidFill>
                  <a:srgbClr val="121217"/>
                </a:solidFill>
                <a:latin typeface="Aptos"/>
              </a:defRPr>
            </a:pPr>
            <a:r>
              <a:t>Unity AI Gateway controls how models, agents and tools run.</a:t>
            </a:r>
          </a:p>
        </p:txBody>
      </p:sp>
      <p:sp>
        <p:nvSpPr>
          <p:cNvPr id="17" name="Rounded Rectangle 16"/>
          <p:cNvSpPr/>
          <p:nvPr/>
        </p:nvSpPr>
        <p:spPr>
          <a:xfrm>
            <a:off x="3730752"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932688"/>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CHANGED</a:t>
            </a:r>
          </a:p>
        </p:txBody>
      </p:sp>
      <p:sp>
        <p:nvSpPr>
          <p:cNvPr id="20" name="TextBox 19"/>
          <p:cNvSpPr txBox="1"/>
          <p:nvPr/>
        </p:nvSpPr>
        <p:spPr>
          <a:xfrm>
            <a:off x="3931920" y="2212848"/>
            <a:ext cx="2551176" cy="457200"/>
          </a:xfrm>
          <a:prstGeom prst="rect">
            <a:avLst/>
          </a:prstGeom>
          <a:noFill/>
        </p:spPr>
        <p:txBody>
          <a:bodyPr wrap="square" lIns="27432" rIns="27432" tIns="18288" bIns="18288">
            <a:normAutofit/>
          </a:bodyPr>
          <a:lstStyle/>
          <a:p>
            <a:pPr>
              <a:lnSpc>
                <a:spcPct val="95000"/>
              </a:lnSpc>
              <a:defRPr sz="1070" b="0">
                <a:solidFill>
                  <a:srgbClr val="121217"/>
                </a:solidFill>
                <a:latin typeface="Aptos"/>
              </a:defRPr>
            </a:pPr>
            <a:r>
              <a:t>Runtime controls for models and agents, spend caps, smart routing, MCP controls and traces.</a:t>
            </a:r>
          </a:p>
        </p:txBody>
      </p:sp>
      <p:sp>
        <p:nvSpPr>
          <p:cNvPr id="21" name="Rounded Rectangle 20"/>
          <p:cNvSpPr/>
          <p:nvPr/>
        </p:nvSpPr>
        <p:spPr>
          <a:xfrm>
            <a:off x="685800" y="2944368"/>
            <a:ext cx="5925312" cy="157276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944368"/>
            <a:ext cx="91440" cy="1572768"/>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063240"/>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328416"/>
            <a:ext cx="5596128" cy="109728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As soon as teams start using multiple models and agents, the question changes from “can we build it?” to “can we control it?”. This matters because uncontrolled AI creates hidden cost, duplicated tools and risky actions. A gateway is the traffic control layer for model access, tool use, spend, audit and policy.</a:t>
            </a:r>
          </a:p>
        </p:txBody>
      </p:sp>
      <p:sp>
        <p:nvSpPr>
          <p:cNvPr id="25" name="Rounded Rectangle 24"/>
          <p:cNvSpPr/>
          <p:nvPr/>
        </p:nvSpPr>
        <p:spPr>
          <a:xfrm>
            <a:off x="685800" y="4700016"/>
            <a:ext cx="5925312" cy="107899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700016"/>
            <a:ext cx="91440" cy="1078992"/>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818888"/>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MEANS TO CUSTOMERS</a:t>
            </a:r>
          </a:p>
        </p:txBody>
      </p:sp>
      <p:sp>
        <p:nvSpPr>
          <p:cNvPr id="28" name="TextBox 27"/>
          <p:cNvSpPr txBox="1"/>
          <p:nvPr/>
        </p:nvSpPr>
        <p:spPr>
          <a:xfrm>
            <a:off x="886968" y="5084064"/>
            <a:ext cx="5596128" cy="603503"/>
          </a:xfrm>
          <a:prstGeom prst="rect">
            <a:avLst/>
          </a:prstGeom>
          <a:noFill/>
        </p:spPr>
        <p:txBody>
          <a:bodyPr wrap="square" lIns="27432" rIns="27432" tIns="18288" bIns="18288">
            <a:normAutofit/>
          </a:bodyPr>
          <a:lstStyle/>
          <a:p>
            <a:pPr>
              <a:lnSpc>
                <a:spcPct val="95000"/>
              </a:lnSpc>
              <a:defRPr sz="1110" b="0">
                <a:solidFill>
                  <a:srgbClr val="121217"/>
                </a:solidFill>
                <a:latin typeface="Aptos"/>
              </a:defRPr>
            </a:pPr>
            <a:r>
              <a:t>Customer meaning: AI experiences can be safer and more consistent because the company controls which models answer, what tools they can use, and when a human should stay in the loop.</a:t>
            </a:r>
          </a:p>
        </p:txBody>
      </p:sp>
      <p:sp>
        <p:nvSpPr>
          <p:cNvPr id="29" name="Rounded Rectangle 28"/>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1" name="TextBox 30"/>
          <p:cNvSpPr txBox="1"/>
          <p:nvPr/>
        </p:nvSpPr>
        <p:spPr>
          <a:xfrm>
            <a:off x="7187184" y="4151376"/>
            <a:ext cx="4041648" cy="1078992"/>
          </a:xfrm>
          <a:prstGeom prst="rect">
            <a:avLst/>
          </a:prstGeom>
          <a:noFill/>
        </p:spPr>
        <p:txBody>
          <a:bodyPr wrap="square" lIns="27432" rIns="27432" tIns="18288" bIns="18288">
            <a:normAutofit/>
          </a:bodyPr>
          <a:lstStyle/>
          <a:p>
            <a:pPr>
              <a:lnSpc>
                <a:spcPct val="95000"/>
              </a:lnSpc>
              <a:defRPr sz="1230" b="1">
                <a:solidFill>
                  <a:srgbClr val="FFFFFF"/>
                </a:solidFill>
                <a:latin typeface="Aptos"/>
              </a:defRPr>
            </a:pPr>
            <a:r>
              <a:t>This is the control plane procurement will ask for: which models are allowed, what they cost, what tools they can touch, and who is accountable when an agent acts.</a:t>
            </a:r>
          </a:p>
        </p:txBody>
      </p:sp>
      <p:sp>
        <p:nvSpPr>
          <p:cNvPr id="32" name="TextBox 31"/>
          <p:cNvSpPr txBox="1"/>
          <p:nvPr/>
        </p:nvSpPr>
        <p:spPr>
          <a:xfrm>
            <a:off x="7187184" y="5303520"/>
            <a:ext cx="4041648" cy="274320"/>
          </a:xfrm>
          <a:prstGeom prst="rect">
            <a:avLst/>
          </a:prstGeom>
          <a:noFill/>
        </p:spPr>
        <p:txBody>
          <a:bodyPr wrap="square" lIns="27432" rIns="27432" tIns="18288" bIns="18288">
            <a:normAutofit/>
          </a:bodyPr>
          <a:lstStyle/>
          <a:p>
            <a:pPr>
              <a:lnSpc>
                <a:spcPct val="100000"/>
              </a:lnSpc>
              <a:defRPr sz="1050" b="1">
                <a:solidFill>
                  <a:srgbClr val="FFE2DB"/>
                </a:solidFill>
                <a:latin typeface="Georgia"/>
              </a:defRPr>
            </a:pPr>
            <a:r>
              <a:t>So what: It gives platform teams a way to approve AI use without approving every tool one by one.</a:t>
            </a:r>
          </a:p>
        </p:txBody>
      </p:sp>
      <p:sp>
        <p:nvSpPr>
          <p:cNvPr id="33" name="TextBox 32"/>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02/18 · Official Databricks source: https://www.databricks.com/blog/ai-governance-data-ai-summit-2026-whats-new-unity-ai-gateway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4B64FF"/>
          </a:solidFill>
          <a:ln w="10160">
            <a:solidFill>
              <a:srgbClr val="4B6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4B64FF"/>
                </a:solidFill>
                <a:latin typeface="Aptos"/>
              </a:defRPr>
            </a:pPr>
            <a:r>
              <a:t>03</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Agent build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3300" b="1">
                <a:solidFill>
                  <a:srgbClr val="212D5E"/>
                </a:solidFill>
                <a:latin typeface="Georgia"/>
              </a:defRPr>
            </a:pPr>
            <a:r>
              <a:t>Agent Bricks</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gent-bricks.png"/>
          <p:cNvPicPr>
            <a:picLocks noChangeAspect="1"/>
          </p:cNvPicPr>
          <p:nvPr/>
        </p:nvPicPr>
        <p:blipFill>
          <a:blip r:embed="rId2"/>
          <a:stretch>
            <a:fillRect/>
          </a:stretch>
        </p:blipFill>
        <p:spPr>
          <a:xfrm>
            <a:off x="7115866" y="950976"/>
            <a:ext cx="4193426"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932688"/>
          </a:xfrm>
          <a:prstGeom prst="rect">
            <a:avLst/>
          </a:prstGeom>
          <a:solidFill>
            <a:srgbClr val="4B64FF"/>
          </a:solidFill>
          <a:ln w="10160">
            <a:solidFill>
              <a:srgbClr val="4B6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457200"/>
          </a:xfrm>
          <a:prstGeom prst="rect">
            <a:avLst/>
          </a:prstGeom>
          <a:noFill/>
        </p:spPr>
        <p:txBody>
          <a:bodyPr wrap="square" lIns="27432" rIns="27432" tIns="18288" bIns="18288">
            <a:normAutofit/>
          </a:bodyPr>
          <a:lstStyle/>
          <a:p>
            <a:pPr>
              <a:lnSpc>
                <a:spcPct val="95000"/>
              </a:lnSpc>
              <a:defRPr sz="1120" b="0">
                <a:solidFill>
                  <a:srgbClr val="121217"/>
                </a:solidFill>
                <a:latin typeface="Aptos"/>
              </a:defRPr>
            </a:pPr>
            <a:r>
              <a:t>Agent Bricks is Databricks platform for building and running AI agents.</a:t>
            </a:r>
          </a:p>
        </p:txBody>
      </p:sp>
      <p:sp>
        <p:nvSpPr>
          <p:cNvPr id="17" name="Rounded Rectangle 16"/>
          <p:cNvSpPr/>
          <p:nvPr/>
        </p:nvSpPr>
        <p:spPr>
          <a:xfrm>
            <a:off x="3730752"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932688"/>
          </a:xfrm>
          <a:prstGeom prst="rect">
            <a:avLst/>
          </a:prstGeom>
          <a:solidFill>
            <a:srgbClr val="4B64FF"/>
          </a:solidFill>
          <a:ln w="10160">
            <a:solidFill>
              <a:srgbClr val="4B6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CHANGED</a:t>
            </a:r>
          </a:p>
        </p:txBody>
      </p:sp>
      <p:sp>
        <p:nvSpPr>
          <p:cNvPr id="20" name="TextBox 19"/>
          <p:cNvSpPr txBox="1"/>
          <p:nvPr/>
        </p:nvSpPr>
        <p:spPr>
          <a:xfrm>
            <a:off x="3931920" y="2212848"/>
            <a:ext cx="2551176" cy="457200"/>
          </a:xfrm>
          <a:prstGeom prst="rect">
            <a:avLst/>
          </a:prstGeom>
          <a:noFill/>
        </p:spPr>
        <p:txBody>
          <a:bodyPr wrap="square" lIns="27432" rIns="27432" tIns="18288" bIns="18288">
            <a:normAutofit/>
          </a:bodyPr>
          <a:lstStyle/>
          <a:p>
            <a:pPr>
              <a:lnSpc>
                <a:spcPct val="95000"/>
              </a:lnSpc>
              <a:defRPr sz="1070" b="0">
                <a:solidFill>
                  <a:srgbClr val="121217"/>
                </a:solidFill>
                <a:latin typeface="Aptos"/>
              </a:defRPr>
            </a:pPr>
            <a:r>
              <a:t>More model choice, more context connectors, Lakebase memory, Unity AI Gateway control and agent tracing.</a:t>
            </a:r>
          </a:p>
        </p:txBody>
      </p:sp>
      <p:sp>
        <p:nvSpPr>
          <p:cNvPr id="21" name="Rounded Rectangle 20"/>
          <p:cNvSpPr/>
          <p:nvPr/>
        </p:nvSpPr>
        <p:spPr>
          <a:xfrm>
            <a:off x="685800" y="2944368"/>
            <a:ext cx="5925312" cy="157276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944368"/>
            <a:ext cx="91440" cy="1572768"/>
          </a:xfrm>
          <a:prstGeom prst="rect">
            <a:avLst/>
          </a:prstGeom>
          <a:solidFill>
            <a:srgbClr val="4B64FF"/>
          </a:solidFill>
          <a:ln w="10160">
            <a:solidFill>
              <a:srgbClr val="4B6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063240"/>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328416"/>
            <a:ext cx="5596128" cy="109728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Most enterprises have plenty of agent experiments and very few agent products. Agent Bricks matters because it tries to turn agent-building into a repeatable factory: domain context, evaluation, memory, tracing and governance in one path. That is what moves agents from innovation theatre to business operations.</a:t>
            </a:r>
          </a:p>
        </p:txBody>
      </p:sp>
      <p:sp>
        <p:nvSpPr>
          <p:cNvPr id="25" name="Rounded Rectangle 24"/>
          <p:cNvSpPr/>
          <p:nvPr/>
        </p:nvSpPr>
        <p:spPr>
          <a:xfrm>
            <a:off x="685800" y="4700016"/>
            <a:ext cx="5925312" cy="107899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700016"/>
            <a:ext cx="91440" cy="1078992"/>
          </a:xfrm>
          <a:prstGeom prst="rect">
            <a:avLst/>
          </a:prstGeom>
          <a:solidFill>
            <a:srgbClr val="4B64FF"/>
          </a:solidFill>
          <a:ln w="10160">
            <a:solidFill>
              <a:srgbClr val="4B6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818888"/>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MEANS TO CUSTOMERS</a:t>
            </a:r>
          </a:p>
        </p:txBody>
      </p:sp>
      <p:sp>
        <p:nvSpPr>
          <p:cNvPr id="28" name="TextBox 27"/>
          <p:cNvSpPr txBox="1"/>
          <p:nvPr/>
        </p:nvSpPr>
        <p:spPr>
          <a:xfrm>
            <a:off x="886968" y="5084064"/>
            <a:ext cx="5596128" cy="603503"/>
          </a:xfrm>
          <a:prstGeom prst="rect">
            <a:avLst/>
          </a:prstGeom>
          <a:noFill/>
        </p:spPr>
        <p:txBody>
          <a:bodyPr wrap="square" lIns="27432" rIns="27432" tIns="18288" bIns="18288">
            <a:normAutofit/>
          </a:bodyPr>
          <a:lstStyle/>
          <a:p>
            <a:pPr>
              <a:lnSpc>
                <a:spcPct val="95000"/>
              </a:lnSpc>
              <a:defRPr sz="1110" b="0">
                <a:solidFill>
                  <a:srgbClr val="121217"/>
                </a:solidFill>
                <a:latin typeface="Aptos"/>
              </a:defRPr>
            </a:pPr>
            <a:r>
              <a:t>Customer meaning: more useful service and operations agents. For example, an availability agent can explain why an online order substitution happened instead of giving a generic “out of stock” message.</a:t>
            </a:r>
          </a:p>
        </p:txBody>
      </p:sp>
      <p:sp>
        <p:nvSpPr>
          <p:cNvPr id="29" name="Rounded Rectangle 28"/>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1" name="TextBox 30"/>
          <p:cNvSpPr txBox="1"/>
          <p:nvPr/>
        </p:nvSpPr>
        <p:spPr>
          <a:xfrm>
            <a:off x="7187184" y="4151376"/>
            <a:ext cx="4041648" cy="1078992"/>
          </a:xfrm>
          <a:prstGeom prst="rect">
            <a:avLst/>
          </a:prstGeom>
          <a:noFill/>
        </p:spPr>
        <p:txBody>
          <a:bodyPr wrap="square" lIns="27432" rIns="27432" tIns="18288" bIns="18288">
            <a:normAutofit/>
          </a:bodyPr>
          <a:lstStyle/>
          <a:p>
            <a:pPr>
              <a:lnSpc>
                <a:spcPct val="95000"/>
              </a:lnSpc>
              <a:defRPr sz="1230" b="1">
                <a:solidFill>
                  <a:srgbClr val="FFFFFF"/>
                </a:solidFill>
                <a:latin typeface="Aptos"/>
              </a:defRPr>
            </a:pPr>
            <a:r>
              <a:t>It gives teams a path from “clever demo” to repeatable domain agents for planning, service, supply chain or store operations without every squad inventing its own stack.</a:t>
            </a:r>
          </a:p>
        </p:txBody>
      </p:sp>
      <p:sp>
        <p:nvSpPr>
          <p:cNvPr id="32" name="TextBox 31"/>
          <p:cNvSpPr txBox="1"/>
          <p:nvPr/>
        </p:nvSpPr>
        <p:spPr>
          <a:xfrm>
            <a:off x="7187184" y="5303520"/>
            <a:ext cx="4041648" cy="274320"/>
          </a:xfrm>
          <a:prstGeom prst="rect">
            <a:avLst/>
          </a:prstGeom>
          <a:noFill/>
        </p:spPr>
        <p:txBody>
          <a:bodyPr wrap="square" lIns="27432" rIns="27432" tIns="18288" bIns="18288">
            <a:normAutofit/>
          </a:bodyPr>
          <a:lstStyle/>
          <a:p>
            <a:pPr>
              <a:lnSpc>
                <a:spcPct val="100000"/>
              </a:lnSpc>
              <a:defRPr sz="1050" b="1">
                <a:solidFill>
                  <a:srgbClr val="FFE2DB"/>
                </a:solidFill>
                <a:latin typeface="Georgia"/>
              </a:defRPr>
            </a:pPr>
            <a:r>
              <a:t>So what: It should reduce repeated setup work for teams building agents.</a:t>
            </a:r>
          </a:p>
        </p:txBody>
      </p:sp>
      <p:sp>
        <p:nvSpPr>
          <p:cNvPr id="33" name="TextBox 32"/>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03/18 · Official Databricks source: https://www.databricks.com/blog/agent-bricks-dais-2026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7A47B4"/>
                </a:solidFill>
                <a:latin typeface="Aptos"/>
              </a:defRPr>
            </a:pPr>
            <a:r>
              <a:t>04</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Business AI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3300" b="1">
                <a:solidFill>
                  <a:srgbClr val="212D5E"/>
                </a:solidFill>
                <a:latin typeface="Georgia"/>
              </a:defRPr>
            </a:pPr>
            <a:r>
              <a:t>Genie One</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genie-one.png"/>
          <p:cNvPicPr>
            <a:picLocks noChangeAspect="1"/>
          </p:cNvPicPr>
          <p:nvPr/>
        </p:nvPicPr>
        <p:blipFill>
          <a:blip r:embed="rId2"/>
          <a:stretch>
            <a:fillRect/>
          </a:stretch>
        </p:blipFill>
        <p:spPr>
          <a:xfrm>
            <a:off x="7115866" y="950976"/>
            <a:ext cx="4193426"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932688"/>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457200"/>
          </a:xfrm>
          <a:prstGeom prst="rect">
            <a:avLst/>
          </a:prstGeom>
          <a:noFill/>
        </p:spPr>
        <p:txBody>
          <a:bodyPr wrap="square" lIns="27432" rIns="27432" tIns="18288" bIns="18288">
            <a:normAutofit/>
          </a:bodyPr>
          <a:lstStyle/>
          <a:p>
            <a:pPr>
              <a:lnSpc>
                <a:spcPct val="95000"/>
              </a:lnSpc>
              <a:defRPr sz="1120" b="0">
                <a:solidFill>
                  <a:srgbClr val="121217"/>
                </a:solidFill>
                <a:latin typeface="Aptos"/>
              </a:defRPr>
            </a:pPr>
            <a:r>
              <a:t>Genie One is an AI coworker for business teams.</a:t>
            </a:r>
          </a:p>
        </p:txBody>
      </p:sp>
      <p:sp>
        <p:nvSpPr>
          <p:cNvPr id="17" name="Rounded Rectangle 16"/>
          <p:cNvSpPr/>
          <p:nvPr/>
        </p:nvSpPr>
        <p:spPr>
          <a:xfrm>
            <a:off x="3730752"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932688"/>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CHANGED</a:t>
            </a:r>
          </a:p>
        </p:txBody>
      </p:sp>
      <p:sp>
        <p:nvSpPr>
          <p:cNvPr id="20" name="TextBox 19"/>
          <p:cNvSpPr txBox="1"/>
          <p:nvPr/>
        </p:nvSpPr>
        <p:spPr>
          <a:xfrm>
            <a:off x="3931920" y="2212848"/>
            <a:ext cx="2551176" cy="457200"/>
          </a:xfrm>
          <a:prstGeom prst="rect">
            <a:avLst/>
          </a:prstGeom>
          <a:noFill/>
        </p:spPr>
        <p:txBody>
          <a:bodyPr wrap="square" lIns="27432" rIns="27432" tIns="18288" bIns="18288">
            <a:normAutofit/>
          </a:bodyPr>
          <a:lstStyle/>
          <a:p>
            <a:pPr>
              <a:lnSpc>
                <a:spcPct val="95000"/>
              </a:lnSpc>
              <a:defRPr sz="1070" b="0">
                <a:solidFill>
                  <a:srgbClr val="121217"/>
                </a:solidFill>
                <a:latin typeface="Aptos"/>
              </a:defRPr>
            </a:pPr>
            <a:r>
              <a:t>A business user agent, tool actions, enterprise context and workflow support through Genie Ontology.</a:t>
            </a:r>
          </a:p>
        </p:txBody>
      </p:sp>
      <p:sp>
        <p:nvSpPr>
          <p:cNvPr id="21" name="Rounded Rectangle 20"/>
          <p:cNvSpPr/>
          <p:nvPr/>
        </p:nvSpPr>
        <p:spPr>
          <a:xfrm>
            <a:off x="685800" y="2944368"/>
            <a:ext cx="5925312" cy="157276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944368"/>
            <a:ext cx="91440" cy="1572768"/>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063240"/>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328416"/>
            <a:ext cx="5596128" cy="109728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The real shift is not another chatbot. It is business users getting a governed AI worker that can understand company data, answer questions and help trigger work. That matters because demand for insight is always higher than analyst capacity, especially in trading, operations, marketing and finance teams.</a:t>
            </a:r>
          </a:p>
        </p:txBody>
      </p:sp>
      <p:sp>
        <p:nvSpPr>
          <p:cNvPr id="25" name="Rounded Rectangle 24"/>
          <p:cNvSpPr/>
          <p:nvPr/>
        </p:nvSpPr>
        <p:spPr>
          <a:xfrm>
            <a:off x="685800" y="4700016"/>
            <a:ext cx="5925312" cy="107899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700016"/>
            <a:ext cx="91440" cy="1078992"/>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818888"/>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MEANS TO CUSTOMERS</a:t>
            </a:r>
          </a:p>
        </p:txBody>
      </p:sp>
      <p:sp>
        <p:nvSpPr>
          <p:cNvPr id="28" name="TextBox 27"/>
          <p:cNvSpPr txBox="1"/>
          <p:nvPr/>
        </p:nvSpPr>
        <p:spPr>
          <a:xfrm>
            <a:off x="886968" y="5084064"/>
            <a:ext cx="5596128" cy="603503"/>
          </a:xfrm>
          <a:prstGeom prst="rect">
            <a:avLst/>
          </a:prstGeom>
          <a:noFill/>
        </p:spPr>
        <p:txBody>
          <a:bodyPr wrap="square" lIns="27432" rIns="27432" tIns="18288" bIns="18288">
            <a:normAutofit/>
          </a:bodyPr>
          <a:lstStyle/>
          <a:p>
            <a:pPr>
              <a:lnSpc>
                <a:spcPct val="95000"/>
              </a:lnSpc>
              <a:defRPr sz="1110" b="0">
                <a:solidFill>
                  <a:srgbClr val="121217"/>
                </a:solidFill>
                <a:latin typeface="Aptos"/>
              </a:defRPr>
            </a:pPr>
            <a:r>
              <a:t>Customer meaning: frontline and commercial teams get answers faster. A store or contact-centre leader can ask what changed today and act before customers see empty shelves or slow responses.</a:t>
            </a:r>
          </a:p>
        </p:txBody>
      </p:sp>
      <p:sp>
        <p:nvSpPr>
          <p:cNvPr id="29" name="Rounded Rectangle 28"/>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1" name="TextBox 30"/>
          <p:cNvSpPr txBox="1"/>
          <p:nvPr/>
        </p:nvSpPr>
        <p:spPr>
          <a:xfrm>
            <a:off x="7187184" y="4151376"/>
            <a:ext cx="4041648" cy="1078992"/>
          </a:xfrm>
          <a:prstGeom prst="rect">
            <a:avLst/>
          </a:prstGeom>
          <a:noFill/>
        </p:spPr>
        <p:txBody>
          <a:bodyPr wrap="square" lIns="27432" rIns="27432" tIns="18288" bIns="18288">
            <a:normAutofit/>
          </a:bodyPr>
          <a:lstStyle/>
          <a:p>
            <a:pPr>
              <a:lnSpc>
                <a:spcPct val="95000"/>
              </a:lnSpc>
              <a:defRPr sz="1230" b="1">
                <a:solidFill>
                  <a:srgbClr val="FFFFFF"/>
                </a:solidFill>
                <a:latin typeface="Aptos"/>
              </a:defRPr>
            </a:pPr>
            <a:r>
              <a:t>Business teams get a safer way to ask questions and kick off work from governed data, useful for trading, availability, marketing and customer teams that cannot wait in BI queues.</a:t>
            </a:r>
          </a:p>
        </p:txBody>
      </p:sp>
      <p:sp>
        <p:nvSpPr>
          <p:cNvPr id="32" name="TextBox 31"/>
          <p:cNvSpPr txBox="1"/>
          <p:nvPr/>
        </p:nvSpPr>
        <p:spPr>
          <a:xfrm>
            <a:off x="7187184" y="5303520"/>
            <a:ext cx="4041648" cy="274320"/>
          </a:xfrm>
          <a:prstGeom prst="rect">
            <a:avLst/>
          </a:prstGeom>
          <a:noFill/>
        </p:spPr>
        <p:txBody>
          <a:bodyPr wrap="square" lIns="27432" rIns="27432" tIns="18288" bIns="18288">
            <a:normAutofit/>
          </a:bodyPr>
          <a:lstStyle/>
          <a:p>
            <a:pPr>
              <a:lnSpc>
                <a:spcPct val="100000"/>
              </a:lnSpc>
              <a:defRPr sz="1050" b="1">
                <a:solidFill>
                  <a:srgbClr val="FFE2DB"/>
                </a:solidFill>
                <a:latin typeface="Georgia"/>
              </a:defRPr>
            </a:pPr>
            <a:r>
              <a:t>So what: It can move routine analysis out of analyst queues.</a:t>
            </a:r>
          </a:p>
        </p:txBody>
      </p:sp>
      <p:sp>
        <p:nvSpPr>
          <p:cNvPr id="33" name="TextBox 32"/>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04/18 · Official Databricks source: https://www.databricks.com/blog/introducing-genie-one-genie-ontology-and-genie-agents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7A47B4"/>
                </a:solidFill>
                <a:latin typeface="Aptos"/>
              </a:defRPr>
            </a:pPr>
            <a:r>
              <a:t>05</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Business AI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3300" b="1">
                <a:solidFill>
                  <a:srgbClr val="212D5E"/>
                </a:solidFill>
                <a:latin typeface="Georgia"/>
              </a:defRPr>
            </a:pPr>
            <a:r>
              <a:t>Genie Ontology</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genie-one.png"/>
          <p:cNvPicPr>
            <a:picLocks noChangeAspect="1"/>
          </p:cNvPicPr>
          <p:nvPr/>
        </p:nvPicPr>
        <p:blipFill>
          <a:blip r:embed="rId2"/>
          <a:stretch>
            <a:fillRect/>
          </a:stretch>
        </p:blipFill>
        <p:spPr>
          <a:xfrm>
            <a:off x="7115866" y="950976"/>
            <a:ext cx="4193426"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932688"/>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457200"/>
          </a:xfrm>
          <a:prstGeom prst="rect">
            <a:avLst/>
          </a:prstGeom>
          <a:noFill/>
        </p:spPr>
        <p:txBody>
          <a:bodyPr wrap="square" lIns="27432" rIns="27432" tIns="18288" bIns="18288">
            <a:normAutofit/>
          </a:bodyPr>
          <a:lstStyle/>
          <a:p>
            <a:pPr>
              <a:lnSpc>
                <a:spcPct val="95000"/>
              </a:lnSpc>
              <a:defRPr sz="1120" b="0">
                <a:solidFill>
                  <a:srgbClr val="121217"/>
                </a:solidFill>
                <a:latin typeface="Aptos"/>
              </a:defRPr>
            </a:pPr>
            <a:r>
              <a:t>Genie Ontology is a living map of business meaning.</a:t>
            </a:r>
          </a:p>
        </p:txBody>
      </p:sp>
      <p:sp>
        <p:nvSpPr>
          <p:cNvPr id="17" name="Rounded Rectangle 16"/>
          <p:cNvSpPr/>
          <p:nvPr/>
        </p:nvSpPr>
        <p:spPr>
          <a:xfrm>
            <a:off x="3730752"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932688"/>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CHANGED</a:t>
            </a:r>
          </a:p>
        </p:txBody>
      </p:sp>
      <p:sp>
        <p:nvSpPr>
          <p:cNvPr id="20" name="TextBox 19"/>
          <p:cNvSpPr txBox="1"/>
          <p:nvPr/>
        </p:nvSpPr>
        <p:spPr>
          <a:xfrm>
            <a:off x="3931920" y="2212848"/>
            <a:ext cx="2551176" cy="457200"/>
          </a:xfrm>
          <a:prstGeom prst="rect">
            <a:avLst/>
          </a:prstGeom>
          <a:noFill/>
        </p:spPr>
        <p:txBody>
          <a:bodyPr wrap="square" lIns="27432" rIns="27432" tIns="18288" bIns="18288">
            <a:normAutofit/>
          </a:bodyPr>
          <a:lstStyle/>
          <a:p>
            <a:pPr>
              <a:lnSpc>
                <a:spcPct val="95000"/>
              </a:lnSpc>
              <a:defRPr sz="1070" b="0">
                <a:solidFill>
                  <a:srgbClr val="121217"/>
                </a:solidFill>
                <a:latin typeface="Aptos"/>
              </a:defRPr>
            </a:pPr>
            <a:r>
              <a:t>A semantic graph built from tables, dashboards, queries, apps, usage and ownership signals.</a:t>
            </a:r>
          </a:p>
        </p:txBody>
      </p:sp>
      <p:sp>
        <p:nvSpPr>
          <p:cNvPr id="21" name="Rounded Rectangle 20"/>
          <p:cNvSpPr/>
          <p:nvPr/>
        </p:nvSpPr>
        <p:spPr>
          <a:xfrm>
            <a:off x="685800" y="2944368"/>
            <a:ext cx="5925312" cy="157276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944368"/>
            <a:ext cx="91440" cy="1572768"/>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063240"/>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328416"/>
            <a:ext cx="5596128" cy="109728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AI fails in enterprises when it does not understand business language. “Sales”, “availability”, “active customer”, “margin” and “churn” can mean different things by team. Genie Ontology matters because it gives agents a business map, so answers are grounded in the organisation’s definitions rather than whatever table name looked plausible.</a:t>
            </a:r>
          </a:p>
        </p:txBody>
      </p:sp>
      <p:sp>
        <p:nvSpPr>
          <p:cNvPr id="25" name="Rounded Rectangle 24"/>
          <p:cNvSpPr/>
          <p:nvPr/>
        </p:nvSpPr>
        <p:spPr>
          <a:xfrm>
            <a:off x="685800" y="4700016"/>
            <a:ext cx="5925312" cy="107899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700016"/>
            <a:ext cx="91440" cy="1078992"/>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818888"/>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MEANS TO CUSTOMERS</a:t>
            </a:r>
          </a:p>
        </p:txBody>
      </p:sp>
      <p:sp>
        <p:nvSpPr>
          <p:cNvPr id="28" name="TextBox 27"/>
          <p:cNvSpPr txBox="1"/>
          <p:nvPr/>
        </p:nvSpPr>
        <p:spPr>
          <a:xfrm>
            <a:off x="886968" y="5084064"/>
            <a:ext cx="5596128" cy="603503"/>
          </a:xfrm>
          <a:prstGeom prst="rect">
            <a:avLst/>
          </a:prstGeom>
          <a:noFill/>
        </p:spPr>
        <p:txBody>
          <a:bodyPr wrap="square" lIns="27432" rIns="27432" tIns="18288" bIns="18288">
            <a:normAutofit/>
          </a:bodyPr>
          <a:lstStyle/>
          <a:p>
            <a:pPr>
              <a:lnSpc>
                <a:spcPct val="95000"/>
              </a:lnSpc>
              <a:defRPr sz="1110" b="0">
                <a:solidFill>
                  <a:srgbClr val="121217"/>
                </a:solidFill>
                <a:latin typeface="Aptos"/>
              </a:defRPr>
            </a:pPr>
            <a:r>
              <a:t>Customer meaning: the AI stops mixing up business definitions. A customer should not get one answer from marketing and another from service because systems disagree on loyalty status or product eligibility.</a:t>
            </a:r>
          </a:p>
        </p:txBody>
      </p:sp>
      <p:sp>
        <p:nvSpPr>
          <p:cNvPr id="29" name="Rounded Rectangle 28"/>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1" name="TextBox 30"/>
          <p:cNvSpPr txBox="1"/>
          <p:nvPr/>
        </p:nvSpPr>
        <p:spPr>
          <a:xfrm>
            <a:off x="7187184" y="4151376"/>
            <a:ext cx="4041648" cy="1078992"/>
          </a:xfrm>
          <a:prstGeom prst="rect">
            <a:avLst/>
          </a:prstGeom>
          <a:noFill/>
        </p:spPr>
        <p:txBody>
          <a:bodyPr wrap="square" lIns="27432" rIns="27432" tIns="18288" bIns="18288">
            <a:normAutofit/>
          </a:bodyPr>
          <a:lstStyle/>
          <a:p>
            <a:pPr>
              <a:lnSpc>
                <a:spcPct val="95000"/>
              </a:lnSpc>
              <a:defRPr sz="1230" b="1">
                <a:solidFill>
                  <a:srgbClr val="FFFFFF"/>
                </a:solidFill>
                <a:latin typeface="Aptos"/>
              </a:defRPr>
            </a:pPr>
            <a:r>
              <a:t>This matters because UK retailers and banks argue over definitions: sales, margin, availability, churn, loyalty and consent. Agents need the business meaning, not just tables.</a:t>
            </a:r>
          </a:p>
        </p:txBody>
      </p:sp>
      <p:sp>
        <p:nvSpPr>
          <p:cNvPr id="32" name="TextBox 31"/>
          <p:cNvSpPr txBox="1"/>
          <p:nvPr/>
        </p:nvSpPr>
        <p:spPr>
          <a:xfrm>
            <a:off x="7187184" y="5303520"/>
            <a:ext cx="4041648" cy="274320"/>
          </a:xfrm>
          <a:prstGeom prst="rect">
            <a:avLst/>
          </a:prstGeom>
          <a:noFill/>
        </p:spPr>
        <p:txBody>
          <a:bodyPr wrap="square" lIns="27432" rIns="27432" tIns="18288" bIns="18288">
            <a:normAutofit/>
          </a:bodyPr>
          <a:lstStyle/>
          <a:p>
            <a:pPr>
              <a:lnSpc>
                <a:spcPct val="100000"/>
              </a:lnSpc>
              <a:defRPr sz="1050" b="1">
                <a:solidFill>
                  <a:srgbClr val="FFE2DB"/>
                </a:solidFill>
                <a:latin typeface="Georgia"/>
              </a:defRPr>
            </a:pPr>
            <a:r>
              <a:t>So what: It can reduce metric disputes and improve answer quality.</a:t>
            </a:r>
          </a:p>
        </p:txBody>
      </p:sp>
      <p:sp>
        <p:nvSpPr>
          <p:cNvPr id="33" name="TextBox 32"/>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05/18 · Official Databricks source: https://www.databricks.com/blog/introducing-genie-one-genie-ontology-and-genie-agents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7A47B4"/>
                </a:solidFill>
                <a:latin typeface="Aptos"/>
              </a:defRPr>
            </a:pPr>
            <a:r>
              <a:t>06</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Business AI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3300" b="1">
                <a:solidFill>
                  <a:srgbClr val="212D5E"/>
                </a:solidFill>
                <a:latin typeface="Georgia"/>
              </a:defRPr>
            </a:pPr>
            <a:r>
              <a:t>Genie Agents</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genie-one.png"/>
          <p:cNvPicPr>
            <a:picLocks noChangeAspect="1"/>
          </p:cNvPicPr>
          <p:nvPr/>
        </p:nvPicPr>
        <p:blipFill>
          <a:blip r:embed="rId2"/>
          <a:stretch>
            <a:fillRect/>
          </a:stretch>
        </p:blipFill>
        <p:spPr>
          <a:xfrm>
            <a:off x="7115866" y="950976"/>
            <a:ext cx="4193426"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932688"/>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457200"/>
          </a:xfrm>
          <a:prstGeom prst="rect">
            <a:avLst/>
          </a:prstGeom>
          <a:noFill/>
        </p:spPr>
        <p:txBody>
          <a:bodyPr wrap="square" lIns="27432" rIns="27432" tIns="18288" bIns="18288">
            <a:normAutofit/>
          </a:bodyPr>
          <a:lstStyle/>
          <a:p>
            <a:pPr>
              <a:lnSpc>
                <a:spcPct val="95000"/>
              </a:lnSpc>
              <a:defRPr sz="1120" b="0">
                <a:solidFill>
                  <a:srgbClr val="121217"/>
                </a:solidFill>
                <a:latin typeface="Aptos"/>
              </a:defRPr>
            </a:pPr>
            <a:r>
              <a:t>Genie Agents are conversational agents for analytics.</a:t>
            </a:r>
          </a:p>
        </p:txBody>
      </p:sp>
      <p:sp>
        <p:nvSpPr>
          <p:cNvPr id="17" name="Rounded Rectangle 16"/>
          <p:cNvSpPr/>
          <p:nvPr/>
        </p:nvSpPr>
        <p:spPr>
          <a:xfrm>
            <a:off x="3730752"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932688"/>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CHANGED</a:t>
            </a:r>
          </a:p>
        </p:txBody>
      </p:sp>
      <p:sp>
        <p:nvSpPr>
          <p:cNvPr id="20" name="TextBox 19"/>
          <p:cNvSpPr txBox="1"/>
          <p:nvPr/>
        </p:nvSpPr>
        <p:spPr>
          <a:xfrm>
            <a:off x="3931920" y="2212848"/>
            <a:ext cx="2551176" cy="457200"/>
          </a:xfrm>
          <a:prstGeom prst="rect">
            <a:avLst/>
          </a:prstGeom>
          <a:noFill/>
        </p:spPr>
        <p:txBody>
          <a:bodyPr wrap="square" lIns="27432" rIns="27432" tIns="18288" bIns="18288">
            <a:normAutofit/>
          </a:bodyPr>
          <a:lstStyle/>
          <a:p>
            <a:pPr>
              <a:lnSpc>
                <a:spcPct val="95000"/>
              </a:lnSpc>
              <a:defRPr sz="1070" b="0">
                <a:solidFill>
                  <a:srgbClr val="121217"/>
                </a:solidFill>
                <a:latin typeface="Aptos"/>
              </a:defRPr>
            </a:pPr>
            <a:r>
              <a:t>Ontology grounded answers, permission checks and sharable analytics agents.</a:t>
            </a:r>
          </a:p>
        </p:txBody>
      </p:sp>
      <p:sp>
        <p:nvSpPr>
          <p:cNvPr id="21" name="Rounded Rectangle 20"/>
          <p:cNvSpPr/>
          <p:nvPr/>
        </p:nvSpPr>
        <p:spPr>
          <a:xfrm>
            <a:off x="685800" y="2944368"/>
            <a:ext cx="5925312" cy="157276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944368"/>
            <a:ext cx="91440" cy="1572768"/>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063240"/>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328416"/>
            <a:ext cx="5596128" cy="109728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This matters because it packages trusted analytics into assistants people can actually use. Instead of everyone learning SQL or waiting for a dashboard change, a category manager, store ops lead or finance partner can ask a governed agent and stay inside approved permissions and definitions.</a:t>
            </a:r>
          </a:p>
        </p:txBody>
      </p:sp>
      <p:sp>
        <p:nvSpPr>
          <p:cNvPr id="25" name="Rounded Rectangle 24"/>
          <p:cNvSpPr/>
          <p:nvPr/>
        </p:nvSpPr>
        <p:spPr>
          <a:xfrm>
            <a:off x="685800" y="4700016"/>
            <a:ext cx="5925312" cy="107899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700016"/>
            <a:ext cx="91440" cy="1078992"/>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818888"/>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MEANS TO CUSTOMERS</a:t>
            </a:r>
          </a:p>
        </p:txBody>
      </p:sp>
      <p:sp>
        <p:nvSpPr>
          <p:cNvPr id="28" name="TextBox 27"/>
          <p:cNvSpPr txBox="1"/>
          <p:nvPr/>
        </p:nvSpPr>
        <p:spPr>
          <a:xfrm>
            <a:off x="886968" y="5084064"/>
            <a:ext cx="5596128" cy="603503"/>
          </a:xfrm>
          <a:prstGeom prst="rect">
            <a:avLst/>
          </a:prstGeom>
          <a:noFill/>
        </p:spPr>
        <p:txBody>
          <a:bodyPr wrap="square" lIns="27432" rIns="27432" tIns="18288" bIns="18288">
            <a:normAutofit/>
          </a:bodyPr>
          <a:lstStyle/>
          <a:p>
            <a:pPr>
              <a:lnSpc>
                <a:spcPct val="95000"/>
              </a:lnSpc>
              <a:defRPr sz="1110" b="0">
                <a:solidFill>
                  <a:srgbClr val="121217"/>
                </a:solidFill>
                <a:latin typeface="Aptos"/>
              </a:defRPr>
            </a:pPr>
            <a:r>
              <a:t>Customer meaning: faster, more trusted answers for the people serving customers. A colleague could ask a governed agent about a product, return policy or local availability and get a consistent response.</a:t>
            </a:r>
          </a:p>
        </p:txBody>
      </p:sp>
      <p:sp>
        <p:nvSpPr>
          <p:cNvPr id="29" name="Rounded Rectangle 28"/>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1" name="TextBox 30"/>
          <p:cNvSpPr txBox="1"/>
          <p:nvPr/>
        </p:nvSpPr>
        <p:spPr>
          <a:xfrm>
            <a:off x="7187184" y="4151376"/>
            <a:ext cx="4041648" cy="1078992"/>
          </a:xfrm>
          <a:prstGeom prst="rect">
            <a:avLst/>
          </a:prstGeom>
          <a:noFill/>
        </p:spPr>
        <p:txBody>
          <a:bodyPr wrap="square" lIns="27432" rIns="27432" tIns="18288" bIns="18288">
            <a:normAutofit/>
          </a:bodyPr>
          <a:lstStyle/>
          <a:p>
            <a:pPr>
              <a:lnSpc>
                <a:spcPct val="95000"/>
              </a:lnSpc>
              <a:defRPr sz="1230" b="1">
                <a:solidFill>
                  <a:srgbClr val="FFFFFF"/>
                </a:solidFill>
                <a:latin typeface="Aptos"/>
              </a:defRPr>
            </a:pPr>
            <a:r>
              <a:t>This can turn trusted analytics into reusable assistants for category teams, store ops, finance and contact centres, while keeping permissions and definitions intact.</a:t>
            </a:r>
          </a:p>
        </p:txBody>
      </p:sp>
      <p:sp>
        <p:nvSpPr>
          <p:cNvPr id="32" name="TextBox 31"/>
          <p:cNvSpPr txBox="1"/>
          <p:nvPr/>
        </p:nvSpPr>
        <p:spPr>
          <a:xfrm>
            <a:off x="7187184" y="5303520"/>
            <a:ext cx="4041648" cy="274320"/>
          </a:xfrm>
          <a:prstGeom prst="rect">
            <a:avLst/>
          </a:prstGeom>
          <a:noFill/>
        </p:spPr>
        <p:txBody>
          <a:bodyPr wrap="square" lIns="27432" rIns="27432" tIns="18288" bIns="18288">
            <a:normAutofit/>
          </a:bodyPr>
          <a:lstStyle/>
          <a:p>
            <a:pPr>
              <a:lnSpc>
                <a:spcPct val="100000"/>
              </a:lnSpc>
              <a:defRPr sz="1050" b="1">
                <a:solidFill>
                  <a:srgbClr val="FFE2DB"/>
                </a:solidFill>
                <a:latin typeface="Georgia"/>
              </a:defRPr>
            </a:pPr>
            <a:r>
              <a:t>So what: They can reduce BI bottlenecks while keeping access controls in place.</a:t>
            </a:r>
          </a:p>
        </p:txBody>
      </p:sp>
      <p:sp>
        <p:nvSpPr>
          <p:cNvPr id="33" name="TextBox 32"/>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06/18 · Official Databricks source: https://www.databricks.com/blog/introducing-genie-one-genie-ontology-and-genie-agents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007C80"/>
          </a:solidFill>
          <a:ln w="10160">
            <a:solidFill>
              <a:srgbClr val="007C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007C80"/>
                </a:solidFill>
                <a:latin typeface="Aptos"/>
              </a:defRPr>
            </a:pPr>
            <a:r>
              <a:t>07</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Real-time data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3300" b="1">
                <a:solidFill>
                  <a:srgbClr val="212D5E"/>
                </a:solidFill>
                <a:latin typeface="Georgia"/>
              </a:defRPr>
            </a:pPr>
            <a:r>
              <a:t>Lakehouse RT</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akehouse-rt.png"/>
          <p:cNvPicPr>
            <a:picLocks noChangeAspect="1"/>
          </p:cNvPicPr>
          <p:nvPr/>
        </p:nvPicPr>
        <p:blipFill>
          <a:blip r:embed="rId2"/>
          <a:stretch>
            <a:fillRect/>
          </a:stretch>
        </p:blipFill>
        <p:spPr>
          <a:xfrm>
            <a:off x="7116283" y="950976"/>
            <a:ext cx="4192592"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932688"/>
          </a:xfrm>
          <a:prstGeom prst="rect">
            <a:avLst/>
          </a:prstGeom>
          <a:solidFill>
            <a:srgbClr val="007C80"/>
          </a:solidFill>
          <a:ln w="10160">
            <a:solidFill>
              <a:srgbClr val="007C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457200"/>
          </a:xfrm>
          <a:prstGeom prst="rect">
            <a:avLst/>
          </a:prstGeom>
          <a:noFill/>
        </p:spPr>
        <p:txBody>
          <a:bodyPr wrap="square" lIns="27432" rIns="27432" tIns="18288" bIns="18288">
            <a:normAutofit/>
          </a:bodyPr>
          <a:lstStyle/>
          <a:p>
            <a:pPr>
              <a:lnSpc>
                <a:spcPct val="95000"/>
              </a:lnSpc>
              <a:defRPr sz="1120" b="0">
                <a:solidFill>
                  <a:srgbClr val="121217"/>
                </a:solidFill>
                <a:latin typeface="Aptos"/>
              </a:defRPr>
            </a:pPr>
            <a:r>
              <a:t>Lakehouse RT brings low latency analytics directly to lakehouse data.</a:t>
            </a:r>
          </a:p>
        </p:txBody>
      </p:sp>
      <p:sp>
        <p:nvSpPr>
          <p:cNvPr id="17" name="Rounded Rectangle 16"/>
          <p:cNvSpPr/>
          <p:nvPr/>
        </p:nvSpPr>
        <p:spPr>
          <a:xfrm>
            <a:off x="3730752"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932688"/>
          </a:xfrm>
          <a:prstGeom prst="rect">
            <a:avLst/>
          </a:prstGeom>
          <a:solidFill>
            <a:srgbClr val="007C80"/>
          </a:solidFill>
          <a:ln w="10160">
            <a:solidFill>
              <a:srgbClr val="007C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CHANGED</a:t>
            </a:r>
          </a:p>
        </p:txBody>
      </p:sp>
      <p:sp>
        <p:nvSpPr>
          <p:cNvPr id="20" name="TextBox 19"/>
          <p:cNvSpPr txBox="1"/>
          <p:nvPr/>
        </p:nvSpPr>
        <p:spPr>
          <a:xfrm>
            <a:off x="3931920" y="2212848"/>
            <a:ext cx="2551176" cy="457200"/>
          </a:xfrm>
          <a:prstGeom prst="rect">
            <a:avLst/>
          </a:prstGeom>
          <a:noFill/>
        </p:spPr>
        <p:txBody>
          <a:bodyPr wrap="square" lIns="27432" rIns="27432" tIns="18288" bIns="18288">
            <a:normAutofit/>
          </a:bodyPr>
          <a:lstStyle/>
          <a:p>
            <a:pPr>
              <a:lnSpc>
                <a:spcPct val="95000"/>
              </a:lnSpc>
              <a:defRPr sz="1070" b="0">
                <a:solidFill>
                  <a:srgbClr val="121217"/>
                </a:solidFill>
                <a:latin typeface="Aptos"/>
              </a:defRPr>
            </a:pPr>
            <a:r>
              <a:t>The Reyden engine, direct Delta and Iceberg reads, millisecond query claims and less need for a separate real time serving layer.</a:t>
            </a:r>
          </a:p>
        </p:txBody>
      </p:sp>
      <p:sp>
        <p:nvSpPr>
          <p:cNvPr id="21" name="Rounded Rectangle 20"/>
          <p:cNvSpPr/>
          <p:nvPr/>
        </p:nvSpPr>
        <p:spPr>
          <a:xfrm>
            <a:off x="685800" y="2944368"/>
            <a:ext cx="5925312" cy="157276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944368"/>
            <a:ext cx="91440" cy="1572768"/>
          </a:xfrm>
          <a:prstGeom prst="rect">
            <a:avLst/>
          </a:prstGeom>
          <a:solidFill>
            <a:srgbClr val="007C80"/>
          </a:solidFill>
          <a:ln w="10160">
            <a:solidFill>
              <a:srgbClr val="007C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063240"/>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328416"/>
            <a:ext cx="5596128" cy="109728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Customer and operational decisions often have a short shelf life. If the data is hours old, the action is already late. Lakehouse RT matters because it pushes the lakehouse closer to real-time use cases: availability, fulfilment exceptions, fraud signals, service interventions and fast-changing demand.</a:t>
            </a:r>
          </a:p>
        </p:txBody>
      </p:sp>
      <p:sp>
        <p:nvSpPr>
          <p:cNvPr id="25" name="Rounded Rectangle 24"/>
          <p:cNvSpPr/>
          <p:nvPr/>
        </p:nvSpPr>
        <p:spPr>
          <a:xfrm>
            <a:off x="685800" y="4700016"/>
            <a:ext cx="5925312" cy="107899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700016"/>
            <a:ext cx="91440" cy="1078992"/>
          </a:xfrm>
          <a:prstGeom prst="rect">
            <a:avLst/>
          </a:prstGeom>
          <a:solidFill>
            <a:srgbClr val="007C80"/>
          </a:solidFill>
          <a:ln w="10160">
            <a:solidFill>
              <a:srgbClr val="007C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818888"/>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MEANS TO CUSTOMERS</a:t>
            </a:r>
          </a:p>
        </p:txBody>
      </p:sp>
      <p:sp>
        <p:nvSpPr>
          <p:cNvPr id="28" name="TextBox 27"/>
          <p:cNvSpPr txBox="1"/>
          <p:nvPr/>
        </p:nvSpPr>
        <p:spPr>
          <a:xfrm>
            <a:off x="886968" y="5084064"/>
            <a:ext cx="5596128" cy="603503"/>
          </a:xfrm>
          <a:prstGeom prst="rect">
            <a:avLst/>
          </a:prstGeom>
          <a:noFill/>
        </p:spPr>
        <p:txBody>
          <a:bodyPr wrap="square" lIns="27432" rIns="27432" tIns="18288" bIns="18288">
            <a:normAutofit/>
          </a:bodyPr>
          <a:lstStyle/>
          <a:p>
            <a:pPr>
              <a:lnSpc>
                <a:spcPct val="95000"/>
              </a:lnSpc>
              <a:defRPr sz="1110" b="0">
                <a:solidFill>
                  <a:srgbClr val="121217"/>
                </a:solidFill>
                <a:latin typeface="Aptos"/>
              </a:defRPr>
            </a:pPr>
            <a:r>
              <a:t>Customer meaning: interventions happen while they still matter: stock alerts before a basket fails, fraud checks during the transaction, fulfilment updates before the delivery promise breaks.</a:t>
            </a:r>
          </a:p>
        </p:txBody>
      </p:sp>
      <p:sp>
        <p:nvSpPr>
          <p:cNvPr id="29" name="Rounded Rectangle 28"/>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1" name="TextBox 30"/>
          <p:cNvSpPr txBox="1"/>
          <p:nvPr/>
        </p:nvSpPr>
        <p:spPr>
          <a:xfrm>
            <a:off x="7187184" y="4151376"/>
            <a:ext cx="4041648" cy="1078992"/>
          </a:xfrm>
          <a:prstGeom prst="rect">
            <a:avLst/>
          </a:prstGeom>
          <a:noFill/>
        </p:spPr>
        <p:txBody>
          <a:bodyPr wrap="square" lIns="27432" rIns="27432" tIns="18288" bIns="18288">
            <a:normAutofit/>
          </a:bodyPr>
          <a:lstStyle/>
          <a:p>
            <a:pPr>
              <a:lnSpc>
                <a:spcPct val="95000"/>
              </a:lnSpc>
              <a:defRPr sz="1230" b="1">
                <a:solidFill>
                  <a:srgbClr val="FFFFFF"/>
                </a:solidFill>
                <a:latin typeface="Aptos"/>
              </a:defRPr>
            </a:pPr>
            <a:r>
              <a:t>Fresh data is the difference between a useful agent and a stale dashboard. Think stock availability, fraud signals, fulfilment exceptions and customer interventions.</a:t>
            </a:r>
          </a:p>
        </p:txBody>
      </p:sp>
      <p:sp>
        <p:nvSpPr>
          <p:cNvPr id="32" name="TextBox 31"/>
          <p:cNvSpPr txBox="1"/>
          <p:nvPr/>
        </p:nvSpPr>
        <p:spPr>
          <a:xfrm>
            <a:off x="7187184" y="5303520"/>
            <a:ext cx="4041648" cy="274320"/>
          </a:xfrm>
          <a:prstGeom prst="rect">
            <a:avLst/>
          </a:prstGeom>
          <a:noFill/>
        </p:spPr>
        <p:txBody>
          <a:bodyPr wrap="square" lIns="27432" rIns="27432" tIns="18288" bIns="18288">
            <a:normAutofit/>
          </a:bodyPr>
          <a:lstStyle/>
          <a:p>
            <a:pPr>
              <a:lnSpc>
                <a:spcPct val="100000"/>
              </a:lnSpc>
              <a:defRPr sz="1050" b="1">
                <a:solidFill>
                  <a:srgbClr val="FFE2DB"/>
                </a:solidFill>
                <a:latin typeface="Georgia"/>
              </a:defRPr>
            </a:pPr>
            <a:r>
              <a:t>So what: It can simplify real time architecture if the claims hold for the workload.</a:t>
            </a:r>
          </a:p>
        </p:txBody>
      </p:sp>
      <p:sp>
        <p:nvSpPr>
          <p:cNvPr id="33" name="TextBox 32"/>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07/18 · Official Databricks source: https://www.databricks.com/blog/introducing-lakehousert-real-time-performance-unified-lakehouse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007368"/>
          </a:solidFill>
          <a:ln w="10160">
            <a:solidFill>
              <a:srgbClr val="0073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007368"/>
                </a:solidFill>
                <a:latin typeface="Aptos"/>
              </a:defRPr>
            </a:pPr>
            <a:r>
              <a:t>08</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Operational data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2800" b="1">
                <a:solidFill>
                  <a:srgbClr val="212D5E"/>
                </a:solidFill>
                <a:latin typeface="Georgia"/>
              </a:defRPr>
            </a:pPr>
            <a:r>
              <a:t>LTAP, Lakebase + disaster recovery</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tap-lakebase-and-multi-cloud-disaster-recovery.png"/>
          <p:cNvPicPr>
            <a:picLocks noChangeAspect="1"/>
          </p:cNvPicPr>
          <p:nvPr/>
        </p:nvPicPr>
        <p:blipFill>
          <a:blip r:embed="rId2"/>
          <a:stretch>
            <a:fillRect/>
          </a:stretch>
        </p:blipFill>
        <p:spPr>
          <a:xfrm>
            <a:off x="7115866" y="950976"/>
            <a:ext cx="4193426"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932688"/>
          </a:xfrm>
          <a:prstGeom prst="rect">
            <a:avLst/>
          </a:prstGeom>
          <a:solidFill>
            <a:srgbClr val="007368"/>
          </a:solidFill>
          <a:ln w="10160">
            <a:solidFill>
              <a:srgbClr val="0073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457200"/>
          </a:xfrm>
          <a:prstGeom prst="rect">
            <a:avLst/>
          </a:prstGeom>
          <a:noFill/>
        </p:spPr>
        <p:txBody>
          <a:bodyPr wrap="square" lIns="27432" rIns="27432" tIns="18288" bIns="18288">
            <a:normAutofit/>
          </a:bodyPr>
          <a:lstStyle/>
          <a:p>
            <a:pPr>
              <a:lnSpc>
                <a:spcPct val="95000"/>
              </a:lnSpc>
              <a:defRPr sz="1120" b="0">
                <a:solidFill>
                  <a:srgbClr val="121217"/>
                </a:solidFill>
                <a:latin typeface="Aptos"/>
              </a:defRPr>
            </a:pPr>
            <a:r>
              <a:t>LTAP gives apps, analytics and agents one governed system of record across transactions and analytics.</a:t>
            </a:r>
          </a:p>
        </p:txBody>
      </p:sp>
      <p:sp>
        <p:nvSpPr>
          <p:cNvPr id="17" name="Rounded Rectangle 16"/>
          <p:cNvSpPr/>
          <p:nvPr/>
        </p:nvSpPr>
        <p:spPr>
          <a:xfrm>
            <a:off x="3730752"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932688"/>
          </a:xfrm>
          <a:prstGeom prst="rect">
            <a:avLst/>
          </a:prstGeom>
          <a:solidFill>
            <a:srgbClr val="007368"/>
          </a:solidFill>
          <a:ln w="10160">
            <a:solidFill>
              <a:srgbClr val="0073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CHANGED</a:t>
            </a:r>
          </a:p>
        </p:txBody>
      </p:sp>
      <p:sp>
        <p:nvSpPr>
          <p:cNvPr id="20" name="TextBox 19"/>
          <p:cNvSpPr txBox="1"/>
          <p:nvPr/>
        </p:nvSpPr>
        <p:spPr>
          <a:xfrm>
            <a:off x="3931920" y="2212848"/>
            <a:ext cx="2551176" cy="457200"/>
          </a:xfrm>
          <a:prstGeom prst="rect">
            <a:avLst/>
          </a:prstGeom>
          <a:noFill/>
        </p:spPr>
        <p:txBody>
          <a:bodyPr wrap="square" lIns="27432" rIns="27432" tIns="18288" bIns="18288">
            <a:normAutofit/>
          </a:bodyPr>
          <a:lstStyle/>
          <a:p>
            <a:pPr>
              <a:lnSpc>
                <a:spcPct val="95000"/>
              </a:lnSpc>
              <a:defRPr sz="1070" b="0">
                <a:solidFill>
                  <a:srgbClr val="121217"/>
                </a:solidFill>
                <a:latin typeface="Aptos"/>
              </a:defRPr>
            </a:pPr>
            <a:r>
              <a:t>LTAP, Lakebase as the transactional layer, disaster recovery, branching and snapshots.</a:t>
            </a:r>
          </a:p>
        </p:txBody>
      </p:sp>
      <p:sp>
        <p:nvSpPr>
          <p:cNvPr id="21" name="Rounded Rectangle 20"/>
          <p:cNvSpPr/>
          <p:nvPr/>
        </p:nvSpPr>
        <p:spPr>
          <a:xfrm>
            <a:off x="685800" y="2944368"/>
            <a:ext cx="5925312" cy="157276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944368"/>
            <a:ext cx="91440" cy="1572768"/>
          </a:xfrm>
          <a:prstGeom prst="rect">
            <a:avLst/>
          </a:prstGeom>
          <a:solidFill>
            <a:srgbClr val="007368"/>
          </a:solidFill>
          <a:ln w="10160">
            <a:solidFill>
              <a:srgbClr val="0073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063240"/>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328416"/>
            <a:ext cx="5596128" cy="109728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Analytics platforms have historically been great at insight and weaker at operational state. Agents and apps need both: the latest transaction, the task status, the case history, the approval trail. Lakebase and LTAP matter because they bring operational application patterns closer to governed analytical data.</a:t>
            </a:r>
          </a:p>
        </p:txBody>
      </p:sp>
      <p:sp>
        <p:nvSpPr>
          <p:cNvPr id="25" name="Rounded Rectangle 24"/>
          <p:cNvSpPr/>
          <p:nvPr/>
        </p:nvSpPr>
        <p:spPr>
          <a:xfrm>
            <a:off x="685800" y="4700016"/>
            <a:ext cx="5925312" cy="107899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700016"/>
            <a:ext cx="91440" cy="1078992"/>
          </a:xfrm>
          <a:prstGeom prst="rect">
            <a:avLst/>
          </a:prstGeom>
          <a:solidFill>
            <a:srgbClr val="007368"/>
          </a:solidFill>
          <a:ln w="10160">
            <a:solidFill>
              <a:srgbClr val="0073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818888"/>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MEANS TO CUSTOMERS</a:t>
            </a:r>
          </a:p>
        </p:txBody>
      </p:sp>
      <p:sp>
        <p:nvSpPr>
          <p:cNvPr id="28" name="TextBox 27"/>
          <p:cNvSpPr txBox="1"/>
          <p:nvPr/>
        </p:nvSpPr>
        <p:spPr>
          <a:xfrm>
            <a:off x="886968" y="5084064"/>
            <a:ext cx="5596128" cy="603503"/>
          </a:xfrm>
          <a:prstGeom prst="rect">
            <a:avLst/>
          </a:prstGeom>
          <a:noFill/>
        </p:spPr>
        <p:txBody>
          <a:bodyPr wrap="square" lIns="27432" rIns="27432" tIns="18288" bIns="18288">
            <a:normAutofit/>
          </a:bodyPr>
          <a:lstStyle/>
          <a:p>
            <a:pPr>
              <a:lnSpc>
                <a:spcPct val="95000"/>
              </a:lnSpc>
              <a:defRPr sz="1110" b="0">
                <a:solidFill>
                  <a:srgbClr val="121217"/>
                </a:solidFill>
                <a:latin typeface="Aptos"/>
              </a:defRPr>
            </a:pPr>
            <a:r>
              <a:t>Customer meaning: AI apps can remember state. For example, a service agent can track a refund case, approvals and next action without bouncing the customer between systems.</a:t>
            </a:r>
          </a:p>
        </p:txBody>
      </p:sp>
      <p:sp>
        <p:nvSpPr>
          <p:cNvPr id="29" name="Rounded Rectangle 28"/>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1" name="TextBox 30"/>
          <p:cNvSpPr txBox="1"/>
          <p:nvPr/>
        </p:nvSpPr>
        <p:spPr>
          <a:xfrm>
            <a:off x="7187184" y="4151376"/>
            <a:ext cx="4041648" cy="1078992"/>
          </a:xfrm>
          <a:prstGeom prst="rect">
            <a:avLst/>
          </a:prstGeom>
          <a:noFill/>
        </p:spPr>
        <p:txBody>
          <a:bodyPr wrap="square" lIns="27432" rIns="27432" tIns="18288" bIns="18288">
            <a:normAutofit/>
          </a:bodyPr>
          <a:lstStyle/>
          <a:p>
            <a:pPr>
              <a:lnSpc>
                <a:spcPct val="95000"/>
              </a:lnSpc>
              <a:defRPr sz="1230" b="1">
                <a:solidFill>
                  <a:srgbClr val="FFFFFF"/>
                </a:solidFill>
                <a:latin typeface="Aptos"/>
              </a:defRPr>
            </a:pPr>
            <a:r>
              <a:t>Operational AI needs state: orders, cases, tasks, memory, approvals. Lakebase points Databricks closer to app-facing systems, not just analytics.</a:t>
            </a:r>
          </a:p>
        </p:txBody>
      </p:sp>
      <p:sp>
        <p:nvSpPr>
          <p:cNvPr id="32" name="TextBox 31"/>
          <p:cNvSpPr txBox="1"/>
          <p:nvPr/>
        </p:nvSpPr>
        <p:spPr>
          <a:xfrm>
            <a:off x="7187184" y="5303520"/>
            <a:ext cx="4041648" cy="274320"/>
          </a:xfrm>
          <a:prstGeom prst="rect">
            <a:avLst/>
          </a:prstGeom>
          <a:noFill/>
        </p:spPr>
        <p:txBody>
          <a:bodyPr wrap="square" lIns="27432" rIns="27432" tIns="18288" bIns="18288">
            <a:normAutofit/>
          </a:bodyPr>
          <a:lstStyle/>
          <a:p>
            <a:pPr>
              <a:lnSpc>
                <a:spcPct val="100000"/>
              </a:lnSpc>
              <a:defRPr sz="1050" b="1">
                <a:solidFill>
                  <a:srgbClr val="FFE2DB"/>
                </a:solidFill>
                <a:latin typeface="Georgia"/>
              </a:defRPr>
            </a:pPr>
            <a:r>
              <a:t>So what: It can reduce data copies, failover work and engineering time if the production limits match the workload.</a:t>
            </a:r>
          </a:p>
        </p:txBody>
      </p:sp>
      <p:sp>
        <p:nvSpPr>
          <p:cNvPr id="33" name="TextBox 32"/>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08/18 · Official Databricks source: https://www.databricks.com/company/newsroom/press-releases/databricks-launches-ltap-first-lake-transactionalanalytical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306998"/>
          </a:solidFill>
          <a:ln w="10160">
            <a:solidFill>
              <a:srgbClr val="30699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306998"/>
                </a:solidFill>
                <a:latin typeface="Aptos"/>
              </a:defRPr>
            </a:pPr>
            <a:r>
              <a:t>09</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Data engineering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3300" b="1">
                <a:solidFill>
                  <a:srgbClr val="212D5E"/>
                </a:solidFill>
                <a:latin typeface="Georgia"/>
              </a:defRPr>
            </a:pPr>
            <a:r>
              <a:t>Lakeflow</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akeflow.png"/>
          <p:cNvPicPr>
            <a:picLocks noChangeAspect="1"/>
          </p:cNvPicPr>
          <p:nvPr/>
        </p:nvPicPr>
        <p:blipFill>
          <a:blip r:embed="rId2"/>
          <a:stretch>
            <a:fillRect/>
          </a:stretch>
        </p:blipFill>
        <p:spPr>
          <a:xfrm>
            <a:off x="7115866" y="950976"/>
            <a:ext cx="4193426"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932688"/>
          </a:xfrm>
          <a:prstGeom prst="rect">
            <a:avLst/>
          </a:prstGeom>
          <a:solidFill>
            <a:srgbClr val="306998"/>
          </a:solidFill>
          <a:ln w="10160">
            <a:solidFill>
              <a:srgbClr val="30699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457200"/>
          </a:xfrm>
          <a:prstGeom prst="rect">
            <a:avLst/>
          </a:prstGeom>
          <a:noFill/>
        </p:spPr>
        <p:txBody>
          <a:bodyPr wrap="square" lIns="27432" rIns="27432" tIns="18288" bIns="18288">
            <a:normAutofit/>
          </a:bodyPr>
          <a:lstStyle/>
          <a:p>
            <a:pPr>
              <a:lnSpc>
                <a:spcPct val="95000"/>
              </a:lnSpc>
              <a:defRPr sz="1120" b="0">
                <a:solidFill>
                  <a:srgbClr val="121217"/>
                </a:solidFill>
                <a:latin typeface="Aptos"/>
              </a:defRPr>
            </a:pPr>
            <a:r>
              <a:t>Lakeflow is Databricks data engineering platform for ingestion, transform and orchestration.</a:t>
            </a:r>
          </a:p>
        </p:txBody>
      </p:sp>
      <p:sp>
        <p:nvSpPr>
          <p:cNvPr id="17" name="Rounded Rectangle 16"/>
          <p:cNvSpPr/>
          <p:nvPr/>
        </p:nvSpPr>
        <p:spPr>
          <a:xfrm>
            <a:off x="3730752"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932688"/>
          </a:xfrm>
          <a:prstGeom prst="rect">
            <a:avLst/>
          </a:prstGeom>
          <a:solidFill>
            <a:srgbClr val="306998"/>
          </a:solidFill>
          <a:ln w="10160">
            <a:solidFill>
              <a:srgbClr val="30699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CHANGED</a:t>
            </a:r>
          </a:p>
        </p:txBody>
      </p:sp>
      <p:sp>
        <p:nvSpPr>
          <p:cNvPr id="20" name="TextBox 19"/>
          <p:cNvSpPr txBox="1"/>
          <p:nvPr/>
        </p:nvSpPr>
        <p:spPr>
          <a:xfrm>
            <a:off x="3931920" y="2212848"/>
            <a:ext cx="2551176" cy="457200"/>
          </a:xfrm>
          <a:prstGeom prst="rect">
            <a:avLst/>
          </a:prstGeom>
          <a:noFill/>
        </p:spPr>
        <p:txBody>
          <a:bodyPr wrap="square" lIns="27432" rIns="27432" tIns="18288" bIns="18288">
            <a:normAutofit/>
          </a:bodyPr>
          <a:lstStyle/>
          <a:p>
            <a:pPr>
              <a:lnSpc>
                <a:spcPct val="95000"/>
              </a:lnSpc>
              <a:defRPr sz="1070" b="0">
                <a:solidFill>
                  <a:srgbClr val="121217"/>
                </a:solidFill>
                <a:latin typeface="Aptos"/>
              </a:defRPr>
            </a:pPr>
            <a:r>
              <a:t>More connectors, Designer, Genie Code help, Zerobus ingest and Lakeflow Jobs.</a:t>
            </a:r>
          </a:p>
        </p:txBody>
      </p:sp>
      <p:sp>
        <p:nvSpPr>
          <p:cNvPr id="21" name="Rounded Rectangle 20"/>
          <p:cNvSpPr/>
          <p:nvPr/>
        </p:nvSpPr>
        <p:spPr>
          <a:xfrm>
            <a:off x="685800" y="2944368"/>
            <a:ext cx="5925312" cy="157276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944368"/>
            <a:ext cx="91440" cy="1572768"/>
          </a:xfrm>
          <a:prstGeom prst="rect">
            <a:avLst/>
          </a:prstGeom>
          <a:solidFill>
            <a:srgbClr val="306998"/>
          </a:solidFill>
          <a:ln w="10160">
            <a:solidFill>
              <a:srgbClr val="30699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063240"/>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328416"/>
            <a:ext cx="5596128" cy="109728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This matters because AI is only as good as the pipelines feeding it. If teams cannot reliably ingest, transform and orchestrate data, agents will give stale or broken answers. Lakeflow is about making the plumbing less bespoke, less fragile and easier to operate at scale.</a:t>
            </a:r>
          </a:p>
        </p:txBody>
      </p:sp>
      <p:sp>
        <p:nvSpPr>
          <p:cNvPr id="25" name="Rounded Rectangle 24"/>
          <p:cNvSpPr/>
          <p:nvPr/>
        </p:nvSpPr>
        <p:spPr>
          <a:xfrm>
            <a:off x="685800" y="4700016"/>
            <a:ext cx="5925312" cy="107899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700016"/>
            <a:ext cx="91440" cy="1078992"/>
          </a:xfrm>
          <a:prstGeom prst="rect">
            <a:avLst/>
          </a:prstGeom>
          <a:solidFill>
            <a:srgbClr val="306998"/>
          </a:solidFill>
          <a:ln w="10160">
            <a:solidFill>
              <a:srgbClr val="30699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818888"/>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MEANS TO CUSTOMERS</a:t>
            </a:r>
          </a:p>
        </p:txBody>
      </p:sp>
      <p:sp>
        <p:nvSpPr>
          <p:cNvPr id="28" name="TextBox 27"/>
          <p:cNvSpPr txBox="1"/>
          <p:nvPr/>
        </p:nvSpPr>
        <p:spPr>
          <a:xfrm>
            <a:off x="886968" y="5084064"/>
            <a:ext cx="5596128" cy="603503"/>
          </a:xfrm>
          <a:prstGeom prst="rect">
            <a:avLst/>
          </a:prstGeom>
          <a:noFill/>
        </p:spPr>
        <p:txBody>
          <a:bodyPr wrap="square" lIns="27432" rIns="27432" tIns="18288" bIns="18288">
            <a:normAutofit/>
          </a:bodyPr>
          <a:lstStyle/>
          <a:p>
            <a:pPr>
              <a:lnSpc>
                <a:spcPct val="95000"/>
              </a:lnSpc>
              <a:defRPr sz="1110" b="0">
                <a:solidFill>
                  <a:srgbClr val="121217"/>
                </a:solidFill>
                <a:latin typeface="Aptos"/>
              </a:defRPr>
            </a:pPr>
            <a:r>
              <a:t>Customer meaning: fewer broken journeys caused by stale or missing data. Better pipelines mean more reliable stock, pricing, delivery and personalisation signals.</a:t>
            </a:r>
          </a:p>
        </p:txBody>
      </p:sp>
      <p:sp>
        <p:nvSpPr>
          <p:cNvPr id="29" name="Rounded Rectangle 28"/>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1" name="TextBox 30"/>
          <p:cNvSpPr txBox="1"/>
          <p:nvPr/>
        </p:nvSpPr>
        <p:spPr>
          <a:xfrm>
            <a:off x="7187184" y="4151376"/>
            <a:ext cx="4041648" cy="1078992"/>
          </a:xfrm>
          <a:prstGeom prst="rect">
            <a:avLst/>
          </a:prstGeom>
          <a:noFill/>
        </p:spPr>
        <p:txBody>
          <a:bodyPr wrap="square" lIns="27432" rIns="27432" tIns="18288" bIns="18288">
            <a:normAutofit/>
          </a:bodyPr>
          <a:lstStyle/>
          <a:p>
            <a:pPr>
              <a:lnSpc>
                <a:spcPct val="95000"/>
              </a:lnSpc>
              <a:defRPr sz="1230" b="1">
                <a:solidFill>
                  <a:srgbClr val="FFFFFF"/>
                </a:solidFill>
                <a:latin typeface="Aptos"/>
              </a:defRPr>
            </a:pPr>
            <a:r>
              <a:t>Most AI programmes fail quietly in the plumbing. Faster governed ingestion and orchestration means less time stitching pipelines and more time shipping use cases.</a:t>
            </a:r>
          </a:p>
        </p:txBody>
      </p:sp>
      <p:sp>
        <p:nvSpPr>
          <p:cNvPr id="32" name="TextBox 31"/>
          <p:cNvSpPr txBox="1"/>
          <p:nvPr/>
        </p:nvSpPr>
        <p:spPr>
          <a:xfrm>
            <a:off x="7187184" y="5303520"/>
            <a:ext cx="4041648" cy="274320"/>
          </a:xfrm>
          <a:prstGeom prst="rect">
            <a:avLst/>
          </a:prstGeom>
          <a:noFill/>
        </p:spPr>
        <p:txBody>
          <a:bodyPr wrap="square" lIns="27432" rIns="27432" tIns="18288" bIns="18288">
            <a:normAutofit/>
          </a:bodyPr>
          <a:lstStyle/>
          <a:p>
            <a:pPr>
              <a:lnSpc>
                <a:spcPct val="100000"/>
              </a:lnSpc>
              <a:defRPr sz="1050" b="1">
                <a:solidFill>
                  <a:srgbClr val="FFE2DB"/>
                </a:solidFill>
                <a:latin typeface="Georgia"/>
              </a:defRPr>
            </a:pPr>
            <a:r>
              <a:t>So what: It can reduce pipeline build time and tool sprawl.</a:t>
            </a:r>
          </a:p>
        </p:txBody>
      </p:sp>
      <p:sp>
        <p:nvSpPr>
          <p:cNvPr id="33" name="TextBox 32"/>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09/18 · Official Databricks source: https://www.databricks.com/blog/lakeflow-new-era-agentic-data-engineering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C9671E"/>
          </a:solidFill>
          <a:ln w="10160">
            <a:solidFill>
              <a:srgbClr val="C967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C9671E"/>
                </a:solidFill>
                <a:latin typeface="Aptos"/>
              </a:defRPr>
            </a:pPr>
            <a:r>
              <a:t>10</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Operations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3300" b="1">
                <a:solidFill>
                  <a:srgbClr val="212D5E"/>
                </a:solidFill>
                <a:latin typeface="Georgia"/>
              </a:defRPr>
            </a:pPr>
            <a:r>
              <a:t>Genie ZeroOps</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genie-zeroops.png"/>
          <p:cNvPicPr>
            <a:picLocks noChangeAspect="1"/>
          </p:cNvPicPr>
          <p:nvPr/>
        </p:nvPicPr>
        <p:blipFill>
          <a:blip r:embed="rId2"/>
          <a:stretch>
            <a:fillRect/>
          </a:stretch>
        </p:blipFill>
        <p:spPr>
          <a:xfrm>
            <a:off x="7116283" y="950976"/>
            <a:ext cx="4192592"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932688"/>
          </a:xfrm>
          <a:prstGeom prst="rect">
            <a:avLst/>
          </a:prstGeom>
          <a:solidFill>
            <a:srgbClr val="C9671E"/>
          </a:solidFill>
          <a:ln w="10160">
            <a:solidFill>
              <a:srgbClr val="C967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457200"/>
          </a:xfrm>
          <a:prstGeom prst="rect">
            <a:avLst/>
          </a:prstGeom>
          <a:noFill/>
        </p:spPr>
        <p:txBody>
          <a:bodyPr wrap="square" lIns="27432" rIns="27432" tIns="18288" bIns="18288">
            <a:normAutofit/>
          </a:bodyPr>
          <a:lstStyle/>
          <a:p>
            <a:pPr>
              <a:lnSpc>
                <a:spcPct val="95000"/>
              </a:lnSpc>
              <a:defRPr sz="1120" b="0">
                <a:solidFill>
                  <a:srgbClr val="121217"/>
                </a:solidFill>
                <a:latin typeface="Aptos"/>
              </a:defRPr>
            </a:pPr>
            <a:r>
              <a:t>Genie ZeroOps watches production data and AI workloads.</a:t>
            </a:r>
          </a:p>
        </p:txBody>
      </p:sp>
      <p:sp>
        <p:nvSpPr>
          <p:cNvPr id="17" name="Rounded Rectangle 16"/>
          <p:cNvSpPr/>
          <p:nvPr/>
        </p:nvSpPr>
        <p:spPr>
          <a:xfrm>
            <a:off x="3730752"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932688"/>
          </a:xfrm>
          <a:prstGeom prst="rect">
            <a:avLst/>
          </a:prstGeom>
          <a:solidFill>
            <a:srgbClr val="C9671E"/>
          </a:solidFill>
          <a:ln w="10160">
            <a:solidFill>
              <a:srgbClr val="C967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CHANGED</a:t>
            </a:r>
          </a:p>
        </p:txBody>
      </p:sp>
      <p:sp>
        <p:nvSpPr>
          <p:cNvPr id="20" name="TextBox 19"/>
          <p:cNvSpPr txBox="1"/>
          <p:nvPr/>
        </p:nvSpPr>
        <p:spPr>
          <a:xfrm>
            <a:off x="3931920" y="2212848"/>
            <a:ext cx="2551176" cy="457200"/>
          </a:xfrm>
          <a:prstGeom prst="rect">
            <a:avLst/>
          </a:prstGeom>
          <a:noFill/>
        </p:spPr>
        <p:txBody>
          <a:bodyPr wrap="square" lIns="27432" rIns="27432" tIns="18288" bIns="18288">
            <a:normAutofit/>
          </a:bodyPr>
          <a:lstStyle/>
          <a:p>
            <a:pPr>
              <a:lnSpc>
                <a:spcPct val="95000"/>
              </a:lnSpc>
              <a:defRPr sz="1070" b="0">
                <a:solidFill>
                  <a:srgbClr val="121217"/>
                </a:solidFill>
                <a:latin typeface="Aptos"/>
              </a:defRPr>
            </a:pPr>
            <a:r>
              <a:t>Background checks, issue investigation, cloned data testing and suggested fixes.</a:t>
            </a:r>
          </a:p>
        </p:txBody>
      </p:sp>
      <p:sp>
        <p:nvSpPr>
          <p:cNvPr id="21" name="Rounded Rectangle 20"/>
          <p:cNvSpPr/>
          <p:nvPr/>
        </p:nvSpPr>
        <p:spPr>
          <a:xfrm>
            <a:off x="685800" y="2944368"/>
            <a:ext cx="5925312" cy="157276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944368"/>
            <a:ext cx="91440" cy="1572768"/>
          </a:xfrm>
          <a:prstGeom prst="rect">
            <a:avLst/>
          </a:prstGeom>
          <a:solidFill>
            <a:srgbClr val="C9671E"/>
          </a:solidFill>
          <a:ln w="10160">
            <a:solidFill>
              <a:srgbClr val="C967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063240"/>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328416"/>
            <a:ext cx="5596128" cy="109728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More AI means more production things to watch: data quality, jobs, models, agents, endpoints and pipelines. Genie ZeroOps matters because platform teams cannot manually inspect everything. The promise is earlier detection, faster diagnosis and safer suggested fixes before users feel the pain.</a:t>
            </a:r>
          </a:p>
        </p:txBody>
      </p:sp>
      <p:sp>
        <p:nvSpPr>
          <p:cNvPr id="25" name="Rounded Rectangle 24"/>
          <p:cNvSpPr/>
          <p:nvPr/>
        </p:nvSpPr>
        <p:spPr>
          <a:xfrm>
            <a:off x="685800" y="4700016"/>
            <a:ext cx="5925312" cy="107899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700016"/>
            <a:ext cx="91440" cy="1078992"/>
          </a:xfrm>
          <a:prstGeom prst="rect">
            <a:avLst/>
          </a:prstGeom>
          <a:solidFill>
            <a:srgbClr val="C9671E"/>
          </a:solidFill>
          <a:ln w="10160">
            <a:solidFill>
              <a:srgbClr val="C967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818888"/>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MEANS TO CUSTOMERS</a:t>
            </a:r>
          </a:p>
        </p:txBody>
      </p:sp>
      <p:sp>
        <p:nvSpPr>
          <p:cNvPr id="28" name="TextBox 27"/>
          <p:cNvSpPr txBox="1"/>
          <p:nvPr/>
        </p:nvSpPr>
        <p:spPr>
          <a:xfrm>
            <a:off x="886968" y="5084064"/>
            <a:ext cx="5596128" cy="603503"/>
          </a:xfrm>
          <a:prstGeom prst="rect">
            <a:avLst/>
          </a:prstGeom>
          <a:noFill/>
        </p:spPr>
        <p:txBody>
          <a:bodyPr wrap="square" lIns="27432" rIns="27432" tIns="18288" bIns="18288">
            <a:normAutofit/>
          </a:bodyPr>
          <a:lstStyle/>
          <a:p>
            <a:pPr>
              <a:lnSpc>
                <a:spcPct val="95000"/>
              </a:lnSpc>
              <a:defRPr sz="1110" b="0">
                <a:solidFill>
                  <a:srgbClr val="121217"/>
                </a:solidFill>
                <a:latin typeface="Aptos"/>
              </a:defRPr>
            </a:pPr>
            <a:r>
              <a:t>Customer meaning: fewer invisible platform failures turning into bad experiences. If a pricing feed, recommendation job or service model degrades, teams can detect and fix it faster.</a:t>
            </a:r>
          </a:p>
        </p:txBody>
      </p:sp>
      <p:sp>
        <p:nvSpPr>
          <p:cNvPr id="29" name="Rounded Rectangle 28"/>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1" name="TextBox 30"/>
          <p:cNvSpPr txBox="1"/>
          <p:nvPr/>
        </p:nvSpPr>
        <p:spPr>
          <a:xfrm>
            <a:off x="7187184" y="4151376"/>
            <a:ext cx="4041648" cy="1078992"/>
          </a:xfrm>
          <a:prstGeom prst="rect">
            <a:avLst/>
          </a:prstGeom>
          <a:noFill/>
        </p:spPr>
        <p:txBody>
          <a:bodyPr wrap="square" lIns="27432" rIns="27432" tIns="18288" bIns="18288">
            <a:normAutofit/>
          </a:bodyPr>
          <a:lstStyle/>
          <a:p>
            <a:pPr>
              <a:lnSpc>
                <a:spcPct val="95000"/>
              </a:lnSpc>
              <a:defRPr sz="1230" b="1">
                <a:solidFill>
                  <a:srgbClr val="FFFFFF"/>
                </a:solidFill>
                <a:latin typeface="Aptos"/>
              </a:defRPr>
            </a:pPr>
            <a:r>
              <a:t>AI estates will create more moving parts, not fewer. Automated monitoring and suggested fixes help small platform teams keep production workloads healthy.</a:t>
            </a:r>
          </a:p>
        </p:txBody>
      </p:sp>
      <p:sp>
        <p:nvSpPr>
          <p:cNvPr id="32" name="TextBox 31"/>
          <p:cNvSpPr txBox="1"/>
          <p:nvPr/>
        </p:nvSpPr>
        <p:spPr>
          <a:xfrm>
            <a:off x="7187184" y="5303520"/>
            <a:ext cx="4041648" cy="274320"/>
          </a:xfrm>
          <a:prstGeom prst="rect">
            <a:avLst/>
          </a:prstGeom>
          <a:noFill/>
        </p:spPr>
        <p:txBody>
          <a:bodyPr wrap="square" lIns="27432" rIns="27432" tIns="18288" bIns="18288">
            <a:normAutofit/>
          </a:bodyPr>
          <a:lstStyle/>
          <a:p>
            <a:pPr>
              <a:lnSpc>
                <a:spcPct val="100000"/>
              </a:lnSpc>
              <a:defRPr sz="1050" b="1">
                <a:solidFill>
                  <a:srgbClr val="FFE2DB"/>
                </a:solidFill>
                <a:latin typeface="Georgia"/>
              </a:defRPr>
            </a:pPr>
            <a:r>
              <a:t>So what: It can cut triage time, but human approval still matters.</a:t>
            </a:r>
          </a:p>
        </p:txBody>
      </p:sp>
      <p:sp>
        <p:nvSpPr>
          <p:cNvPr id="33" name="TextBox 32"/>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10/18 · Official Databricks source: https://www.databricks.com/blog/introducing-genie-zeroops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485473"/>
          </a:solidFill>
          <a:ln w="10160">
            <a:solidFill>
              <a:srgbClr val="4854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485473"/>
                </a:solidFill>
                <a:latin typeface="Aptos"/>
              </a:defRPr>
            </a:pPr>
            <a:r>
              <a:t>11</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Developer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3300" b="1">
                <a:solidFill>
                  <a:srgbClr val="212D5E"/>
                </a:solidFill>
                <a:latin typeface="Georgia"/>
              </a:defRPr>
            </a:pPr>
            <a:r>
              <a:t>Genie Code</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genie-code.png"/>
          <p:cNvPicPr>
            <a:picLocks noChangeAspect="1"/>
          </p:cNvPicPr>
          <p:nvPr/>
        </p:nvPicPr>
        <p:blipFill>
          <a:blip r:embed="rId2"/>
          <a:stretch>
            <a:fillRect/>
          </a:stretch>
        </p:blipFill>
        <p:spPr>
          <a:xfrm>
            <a:off x="7115866" y="950976"/>
            <a:ext cx="4193426"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932688"/>
          </a:xfrm>
          <a:prstGeom prst="rect">
            <a:avLst/>
          </a:prstGeom>
          <a:solidFill>
            <a:srgbClr val="485473"/>
          </a:solidFill>
          <a:ln w="10160">
            <a:solidFill>
              <a:srgbClr val="4854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457200"/>
          </a:xfrm>
          <a:prstGeom prst="rect">
            <a:avLst/>
          </a:prstGeom>
          <a:noFill/>
        </p:spPr>
        <p:txBody>
          <a:bodyPr wrap="square" lIns="27432" rIns="27432" tIns="18288" bIns="18288">
            <a:normAutofit/>
          </a:bodyPr>
          <a:lstStyle/>
          <a:p>
            <a:pPr>
              <a:lnSpc>
                <a:spcPct val="95000"/>
              </a:lnSpc>
              <a:defRPr sz="1120" b="0">
                <a:solidFill>
                  <a:srgbClr val="121217"/>
                </a:solidFill>
                <a:latin typeface="Aptos"/>
              </a:defRPr>
            </a:pPr>
            <a:r>
              <a:t>Genie Code is a coding agent for data and ML work.</a:t>
            </a:r>
          </a:p>
        </p:txBody>
      </p:sp>
      <p:sp>
        <p:nvSpPr>
          <p:cNvPr id="17" name="Rounded Rectangle 16"/>
          <p:cNvSpPr/>
          <p:nvPr/>
        </p:nvSpPr>
        <p:spPr>
          <a:xfrm>
            <a:off x="3730752"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932688"/>
          </a:xfrm>
          <a:prstGeom prst="rect">
            <a:avLst/>
          </a:prstGeom>
          <a:solidFill>
            <a:srgbClr val="485473"/>
          </a:solidFill>
          <a:ln w="10160">
            <a:solidFill>
              <a:srgbClr val="4854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CHANGED</a:t>
            </a:r>
          </a:p>
        </p:txBody>
      </p:sp>
      <p:sp>
        <p:nvSpPr>
          <p:cNvPr id="20" name="TextBox 19"/>
          <p:cNvSpPr txBox="1"/>
          <p:nvPr/>
        </p:nvSpPr>
        <p:spPr>
          <a:xfrm>
            <a:off x="3931920" y="2212848"/>
            <a:ext cx="2551176" cy="457200"/>
          </a:xfrm>
          <a:prstGeom prst="rect">
            <a:avLst/>
          </a:prstGeom>
          <a:noFill/>
        </p:spPr>
        <p:txBody>
          <a:bodyPr wrap="square" lIns="27432" rIns="27432" tIns="18288" bIns="18288">
            <a:normAutofit/>
          </a:bodyPr>
          <a:lstStyle/>
          <a:p>
            <a:pPr>
              <a:lnSpc>
                <a:spcPct val="95000"/>
              </a:lnSpc>
              <a:defRPr sz="1070" b="0">
                <a:solidFill>
                  <a:srgbClr val="121217"/>
                </a:solidFill>
                <a:latin typeface="Aptos"/>
              </a:defRPr>
            </a:pPr>
            <a:r>
              <a:t>A full page workspace, MLflow context, endpoint checks, scheduled tasks and GPU runtime switching.</a:t>
            </a:r>
          </a:p>
        </p:txBody>
      </p:sp>
      <p:sp>
        <p:nvSpPr>
          <p:cNvPr id="21" name="Rounded Rectangle 20"/>
          <p:cNvSpPr/>
          <p:nvPr/>
        </p:nvSpPr>
        <p:spPr>
          <a:xfrm>
            <a:off x="685800" y="2944368"/>
            <a:ext cx="5925312" cy="157276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944368"/>
            <a:ext cx="91440" cy="1572768"/>
          </a:xfrm>
          <a:prstGeom prst="rect">
            <a:avLst/>
          </a:prstGeom>
          <a:solidFill>
            <a:srgbClr val="485473"/>
          </a:solidFill>
          <a:ln w="10160">
            <a:solidFill>
              <a:srgbClr val="4854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063240"/>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328416"/>
            <a:ext cx="5596128" cy="109728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This matters because data and ML teams spend too much time on repeatable coding chores: notebooks, pipelines, docs, endpoint checks and glue code. A coding agent inside the data platform can speed that up, but only if review, testing and release discipline stay in place.</a:t>
            </a:r>
          </a:p>
        </p:txBody>
      </p:sp>
      <p:sp>
        <p:nvSpPr>
          <p:cNvPr id="25" name="Rounded Rectangle 24"/>
          <p:cNvSpPr/>
          <p:nvPr/>
        </p:nvSpPr>
        <p:spPr>
          <a:xfrm>
            <a:off x="685800" y="4700016"/>
            <a:ext cx="5925312" cy="107899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700016"/>
            <a:ext cx="91440" cy="1078992"/>
          </a:xfrm>
          <a:prstGeom prst="rect">
            <a:avLst/>
          </a:prstGeom>
          <a:solidFill>
            <a:srgbClr val="485473"/>
          </a:solidFill>
          <a:ln w="10160">
            <a:solidFill>
              <a:srgbClr val="4854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818888"/>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MEANS TO CUSTOMERS</a:t>
            </a:r>
          </a:p>
        </p:txBody>
      </p:sp>
      <p:sp>
        <p:nvSpPr>
          <p:cNvPr id="28" name="TextBox 27"/>
          <p:cNvSpPr txBox="1"/>
          <p:nvPr/>
        </p:nvSpPr>
        <p:spPr>
          <a:xfrm>
            <a:off x="886968" y="5084064"/>
            <a:ext cx="5596128" cy="603503"/>
          </a:xfrm>
          <a:prstGeom prst="rect">
            <a:avLst/>
          </a:prstGeom>
          <a:noFill/>
        </p:spPr>
        <p:txBody>
          <a:bodyPr wrap="square" lIns="27432" rIns="27432" tIns="18288" bIns="18288">
            <a:normAutofit/>
          </a:bodyPr>
          <a:lstStyle/>
          <a:p>
            <a:pPr>
              <a:lnSpc>
                <a:spcPct val="95000"/>
              </a:lnSpc>
              <a:defRPr sz="1110" b="0">
                <a:solidFill>
                  <a:srgbClr val="121217"/>
                </a:solidFill>
                <a:latin typeface="Aptos"/>
              </a:defRPr>
            </a:pPr>
            <a:r>
              <a:t>Customer meaning: teams can ship improvements faster, but the value only lands if governance stops rushed code becoming a customer-impacting bug.</a:t>
            </a:r>
          </a:p>
        </p:txBody>
      </p:sp>
      <p:sp>
        <p:nvSpPr>
          <p:cNvPr id="29" name="Rounded Rectangle 28"/>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1" name="TextBox 30"/>
          <p:cNvSpPr txBox="1"/>
          <p:nvPr/>
        </p:nvSpPr>
        <p:spPr>
          <a:xfrm>
            <a:off x="7187184" y="4151376"/>
            <a:ext cx="4041648" cy="1078992"/>
          </a:xfrm>
          <a:prstGeom prst="rect">
            <a:avLst/>
          </a:prstGeom>
          <a:noFill/>
        </p:spPr>
        <p:txBody>
          <a:bodyPr wrap="square" lIns="27432" rIns="27432" tIns="18288" bIns="18288">
            <a:normAutofit/>
          </a:bodyPr>
          <a:lstStyle/>
          <a:p>
            <a:pPr>
              <a:lnSpc>
                <a:spcPct val="95000"/>
              </a:lnSpc>
              <a:defRPr sz="1230" b="1">
                <a:solidFill>
                  <a:srgbClr val="FFFFFF"/>
                </a:solidFill>
                <a:latin typeface="Aptos"/>
              </a:defRPr>
            </a:pPr>
            <a:r>
              <a:t>Data engineers and ML teams get a helper for notebooks, pipelines and docs. Useful, but only if code review and production gates stay non-negotiable.</a:t>
            </a:r>
          </a:p>
        </p:txBody>
      </p:sp>
      <p:sp>
        <p:nvSpPr>
          <p:cNvPr id="32" name="TextBox 31"/>
          <p:cNvSpPr txBox="1"/>
          <p:nvPr/>
        </p:nvSpPr>
        <p:spPr>
          <a:xfrm>
            <a:off x="7187184" y="5303520"/>
            <a:ext cx="4041648" cy="274320"/>
          </a:xfrm>
          <a:prstGeom prst="rect">
            <a:avLst/>
          </a:prstGeom>
          <a:noFill/>
        </p:spPr>
        <p:txBody>
          <a:bodyPr wrap="square" lIns="27432" rIns="27432" tIns="18288" bIns="18288">
            <a:normAutofit/>
          </a:bodyPr>
          <a:lstStyle/>
          <a:p>
            <a:pPr>
              <a:lnSpc>
                <a:spcPct val="100000"/>
              </a:lnSpc>
              <a:defRPr sz="1050" b="1">
                <a:solidFill>
                  <a:srgbClr val="FFE2DB"/>
                </a:solidFill>
                <a:latin typeface="Georgia"/>
              </a:defRPr>
            </a:pPr>
            <a:r>
              <a:t>So what: It can save engineering time if teams keep review gates in place.</a:t>
            </a:r>
          </a:p>
        </p:txBody>
      </p:sp>
      <p:sp>
        <p:nvSpPr>
          <p:cNvPr id="33" name="TextBox 32"/>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11/18 · Official Databricks source: https://www.databricks.com/blog/whats-new-genie-code-data-ai-summit-2026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485473"/>
          </a:solidFill>
          <a:ln w="10160">
            <a:solidFill>
              <a:srgbClr val="4854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485473"/>
                </a:solidFill>
                <a:latin typeface="Aptos"/>
              </a:defRPr>
            </a:pPr>
            <a:r>
              <a:t>12</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Developer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3300" b="1">
                <a:solidFill>
                  <a:srgbClr val="212D5E"/>
                </a:solidFill>
                <a:latin typeface="Georgia"/>
              </a:defRPr>
            </a:pPr>
            <a:r>
              <a:t>Genie Code + ZeroOps for ML</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genie-code-and-zeroops-for-ml-and-data-science.png"/>
          <p:cNvPicPr>
            <a:picLocks noChangeAspect="1"/>
          </p:cNvPicPr>
          <p:nvPr/>
        </p:nvPicPr>
        <p:blipFill>
          <a:blip r:embed="rId2"/>
          <a:stretch>
            <a:fillRect/>
          </a:stretch>
        </p:blipFill>
        <p:spPr>
          <a:xfrm>
            <a:off x="7115866" y="950976"/>
            <a:ext cx="4193426"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932688"/>
          </a:xfrm>
          <a:prstGeom prst="rect">
            <a:avLst/>
          </a:prstGeom>
          <a:solidFill>
            <a:srgbClr val="485473"/>
          </a:solidFill>
          <a:ln w="10160">
            <a:solidFill>
              <a:srgbClr val="4854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457200"/>
          </a:xfrm>
          <a:prstGeom prst="rect">
            <a:avLst/>
          </a:prstGeom>
          <a:noFill/>
        </p:spPr>
        <p:txBody>
          <a:bodyPr wrap="square" lIns="27432" rIns="27432" tIns="18288" bIns="18288">
            <a:normAutofit/>
          </a:bodyPr>
          <a:lstStyle/>
          <a:p>
            <a:pPr>
              <a:lnSpc>
                <a:spcPct val="95000"/>
              </a:lnSpc>
              <a:defRPr sz="1120" b="0">
                <a:solidFill>
                  <a:srgbClr val="121217"/>
                </a:solidFill>
                <a:latin typeface="Aptos"/>
              </a:defRPr>
            </a:pPr>
            <a:r>
              <a:t>Databricks added agent help for ML engineering, model serving and model operations.</a:t>
            </a:r>
          </a:p>
        </p:txBody>
      </p:sp>
      <p:sp>
        <p:nvSpPr>
          <p:cNvPr id="17" name="Rounded Rectangle 16"/>
          <p:cNvSpPr/>
          <p:nvPr/>
        </p:nvSpPr>
        <p:spPr>
          <a:xfrm>
            <a:off x="3730752"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932688"/>
          </a:xfrm>
          <a:prstGeom prst="rect">
            <a:avLst/>
          </a:prstGeom>
          <a:solidFill>
            <a:srgbClr val="485473"/>
          </a:solidFill>
          <a:ln w="10160">
            <a:solidFill>
              <a:srgbClr val="4854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CHANGED</a:t>
            </a:r>
          </a:p>
        </p:txBody>
      </p:sp>
      <p:sp>
        <p:nvSpPr>
          <p:cNvPr id="20" name="TextBox 19"/>
          <p:cNvSpPr txBox="1"/>
          <p:nvPr/>
        </p:nvSpPr>
        <p:spPr>
          <a:xfrm>
            <a:off x="3931920" y="2212848"/>
            <a:ext cx="2551176" cy="457200"/>
          </a:xfrm>
          <a:prstGeom prst="rect">
            <a:avLst/>
          </a:prstGeom>
          <a:noFill/>
        </p:spPr>
        <p:txBody>
          <a:bodyPr wrap="square" lIns="27432" rIns="27432" tIns="18288" bIns="18288">
            <a:normAutofit/>
          </a:bodyPr>
          <a:lstStyle/>
          <a:p>
            <a:pPr>
              <a:lnSpc>
                <a:spcPct val="95000"/>
              </a:lnSpc>
              <a:defRPr sz="1070" b="0">
                <a:solidFill>
                  <a:srgbClr val="121217"/>
                </a:solidFill>
                <a:latin typeface="Aptos"/>
              </a:defRPr>
            </a:pPr>
            <a:r>
              <a:t>Genie Code for ML work, Genie ZeroOps for ML, online feature serving on Lakebase and model serving updates.</a:t>
            </a:r>
          </a:p>
        </p:txBody>
      </p:sp>
      <p:sp>
        <p:nvSpPr>
          <p:cNvPr id="21" name="Rounded Rectangle 20"/>
          <p:cNvSpPr/>
          <p:nvPr/>
        </p:nvSpPr>
        <p:spPr>
          <a:xfrm>
            <a:off x="685800" y="2944368"/>
            <a:ext cx="5925312" cy="157276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944368"/>
            <a:ext cx="91440" cy="1572768"/>
          </a:xfrm>
          <a:prstGeom prst="rect">
            <a:avLst/>
          </a:prstGeom>
          <a:solidFill>
            <a:srgbClr val="485473"/>
          </a:solidFill>
          <a:ln w="10160">
            <a:solidFill>
              <a:srgbClr val="4854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063240"/>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328416"/>
            <a:ext cx="5596128" cy="109728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Many ML projects do not fail in the model-building stage; they stall between experiment, deployment, monitoring and remediation. This matters because it targets the messy middle of ML operations: getting models served, observed, fixed and improved without handoffs slowing everything down.</a:t>
            </a:r>
          </a:p>
        </p:txBody>
      </p:sp>
      <p:sp>
        <p:nvSpPr>
          <p:cNvPr id="25" name="Rounded Rectangle 24"/>
          <p:cNvSpPr/>
          <p:nvPr/>
        </p:nvSpPr>
        <p:spPr>
          <a:xfrm>
            <a:off x="685800" y="4700016"/>
            <a:ext cx="5925312" cy="107899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700016"/>
            <a:ext cx="91440" cy="1078992"/>
          </a:xfrm>
          <a:prstGeom prst="rect">
            <a:avLst/>
          </a:prstGeom>
          <a:solidFill>
            <a:srgbClr val="485473"/>
          </a:solidFill>
          <a:ln w="10160">
            <a:solidFill>
              <a:srgbClr val="4854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818888"/>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MEANS TO CUSTOMERS</a:t>
            </a:r>
          </a:p>
        </p:txBody>
      </p:sp>
      <p:sp>
        <p:nvSpPr>
          <p:cNvPr id="28" name="TextBox 27"/>
          <p:cNvSpPr txBox="1"/>
          <p:nvPr/>
        </p:nvSpPr>
        <p:spPr>
          <a:xfrm>
            <a:off x="886968" y="5084064"/>
            <a:ext cx="5596128" cy="603503"/>
          </a:xfrm>
          <a:prstGeom prst="rect">
            <a:avLst/>
          </a:prstGeom>
          <a:noFill/>
        </p:spPr>
        <p:txBody>
          <a:bodyPr wrap="square" lIns="27432" rIns="27432" tIns="18288" bIns="18288">
            <a:normAutofit/>
          </a:bodyPr>
          <a:lstStyle/>
          <a:p>
            <a:pPr>
              <a:lnSpc>
                <a:spcPct val="95000"/>
              </a:lnSpc>
              <a:defRPr sz="1110" b="0">
                <a:solidFill>
                  <a:srgbClr val="121217"/>
                </a:solidFill>
                <a:latin typeface="Aptos"/>
              </a:defRPr>
            </a:pPr>
            <a:r>
              <a:t>Customer meaning: models that power recommendations, demand forecasts or service triage can be monitored and improved more quickly when behaviour changes.</a:t>
            </a:r>
          </a:p>
        </p:txBody>
      </p:sp>
      <p:sp>
        <p:nvSpPr>
          <p:cNvPr id="29" name="Rounded Rectangle 28"/>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1" name="TextBox 30"/>
          <p:cNvSpPr txBox="1"/>
          <p:nvPr/>
        </p:nvSpPr>
        <p:spPr>
          <a:xfrm>
            <a:off x="7187184" y="4151376"/>
            <a:ext cx="4041648" cy="1078992"/>
          </a:xfrm>
          <a:prstGeom prst="rect">
            <a:avLst/>
          </a:prstGeom>
          <a:noFill/>
        </p:spPr>
        <p:txBody>
          <a:bodyPr wrap="square" lIns="27432" rIns="27432" tIns="18288" bIns="18288">
            <a:normAutofit/>
          </a:bodyPr>
          <a:lstStyle/>
          <a:p>
            <a:pPr>
              <a:lnSpc>
                <a:spcPct val="95000"/>
              </a:lnSpc>
              <a:defRPr sz="1230" b="1">
                <a:solidFill>
                  <a:srgbClr val="FFFFFF"/>
                </a:solidFill>
                <a:latin typeface="Aptos"/>
              </a:defRPr>
            </a:pPr>
            <a:r>
              <a:t>For mature UK firms, this compresses the slog between experiment, serving, monitoring and remediation — where many ML projects get stuck.</a:t>
            </a:r>
          </a:p>
        </p:txBody>
      </p:sp>
      <p:sp>
        <p:nvSpPr>
          <p:cNvPr id="32" name="TextBox 31"/>
          <p:cNvSpPr txBox="1"/>
          <p:nvPr/>
        </p:nvSpPr>
        <p:spPr>
          <a:xfrm>
            <a:off x="7187184" y="5303520"/>
            <a:ext cx="4041648" cy="274320"/>
          </a:xfrm>
          <a:prstGeom prst="rect">
            <a:avLst/>
          </a:prstGeom>
          <a:noFill/>
        </p:spPr>
        <p:txBody>
          <a:bodyPr wrap="square" lIns="27432" rIns="27432" tIns="18288" bIns="18288">
            <a:normAutofit/>
          </a:bodyPr>
          <a:lstStyle/>
          <a:p>
            <a:pPr>
              <a:lnSpc>
                <a:spcPct val="100000"/>
              </a:lnSpc>
              <a:defRPr sz="1050" b="1">
                <a:solidFill>
                  <a:srgbClr val="FFE2DB"/>
                </a:solidFill>
                <a:latin typeface="Georgia"/>
              </a:defRPr>
            </a:pPr>
            <a:r>
              <a:t>So what: It can speed model iteration and cut operations work, but teams still need review gates.</a:t>
            </a:r>
          </a:p>
        </p:txBody>
      </p:sp>
      <p:sp>
        <p:nvSpPr>
          <p:cNvPr id="33" name="TextBox 32"/>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12/18 · Official Databricks source: https://www.databricks.com/blog/whats-new-ai-platform-agents-ml-engineering-our-deep-learning-platform-and-new-capabilities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636F2C"/>
          </a:solidFill>
          <a:ln w="10160">
            <a:solidFill>
              <a:srgbClr val="636F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636F2C"/>
                </a:solidFill>
                <a:latin typeface="Aptos"/>
              </a:defRPr>
            </a:pPr>
            <a:r>
              <a:t>13</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Distribution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2800" b="1">
                <a:solidFill>
                  <a:srgbClr val="212D5E"/>
                </a:solidFill>
                <a:latin typeface="Georgia"/>
              </a:defRPr>
            </a:pPr>
            <a:r>
              <a:t>Apps on Databricks Marketplace</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pps-on-databricks-marketplace.png"/>
          <p:cNvPicPr>
            <a:picLocks noChangeAspect="1"/>
          </p:cNvPicPr>
          <p:nvPr/>
        </p:nvPicPr>
        <p:blipFill>
          <a:blip r:embed="rId2"/>
          <a:stretch>
            <a:fillRect/>
          </a:stretch>
        </p:blipFill>
        <p:spPr>
          <a:xfrm>
            <a:off x="7111727" y="950976"/>
            <a:ext cx="4201705"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932688"/>
          </a:xfrm>
          <a:prstGeom prst="rect">
            <a:avLst/>
          </a:prstGeom>
          <a:solidFill>
            <a:srgbClr val="636F2C"/>
          </a:solidFill>
          <a:ln w="10160">
            <a:solidFill>
              <a:srgbClr val="636F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457200"/>
          </a:xfrm>
          <a:prstGeom prst="rect">
            <a:avLst/>
          </a:prstGeom>
          <a:noFill/>
        </p:spPr>
        <p:txBody>
          <a:bodyPr wrap="square" lIns="27432" rIns="27432" tIns="18288" bIns="18288">
            <a:normAutofit/>
          </a:bodyPr>
          <a:lstStyle/>
          <a:p>
            <a:pPr>
              <a:lnSpc>
                <a:spcPct val="95000"/>
              </a:lnSpc>
              <a:defRPr sz="1120" b="0">
                <a:solidFill>
                  <a:srgbClr val="121217"/>
                </a:solidFill>
                <a:latin typeface="Aptos"/>
              </a:defRPr>
            </a:pPr>
            <a:r>
              <a:t>Marketplace apps run third party tools on governed Databricks data.</a:t>
            </a:r>
          </a:p>
        </p:txBody>
      </p:sp>
      <p:sp>
        <p:nvSpPr>
          <p:cNvPr id="17" name="Rounded Rectangle 16"/>
          <p:cNvSpPr/>
          <p:nvPr/>
        </p:nvSpPr>
        <p:spPr>
          <a:xfrm>
            <a:off x="3730752"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932688"/>
          </a:xfrm>
          <a:prstGeom prst="rect">
            <a:avLst/>
          </a:prstGeom>
          <a:solidFill>
            <a:srgbClr val="636F2C"/>
          </a:solidFill>
          <a:ln w="10160">
            <a:solidFill>
              <a:srgbClr val="636F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CHANGED</a:t>
            </a:r>
          </a:p>
        </p:txBody>
      </p:sp>
      <p:sp>
        <p:nvSpPr>
          <p:cNvPr id="20" name="TextBox 19"/>
          <p:cNvSpPr txBox="1"/>
          <p:nvPr/>
        </p:nvSpPr>
        <p:spPr>
          <a:xfrm>
            <a:off x="3931920" y="2212848"/>
            <a:ext cx="2551176" cy="457200"/>
          </a:xfrm>
          <a:prstGeom prst="rect">
            <a:avLst/>
          </a:prstGeom>
          <a:noFill/>
        </p:spPr>
        <p:txBody>
          <a:bodyPr wrap="square" lIns="27432" rIns="27432" tIns="18288" bIns="18288">
            <a:normAutofit/>
          </a:bodyPr>
          <a:lstStyle/>
          <a:p>
            <a:pPr>
              <a:lnSpc>
                <a:spcPct val="95000"/>
              </a:lnSpc>
              <a:defRPr sz="1070" b="0">
                <a:solidFill>
                  <a:srgbClr val="121217"/>
                </a:solidFill>
                <a:latin typeface="Aptos"/>
              </a:defRPr>
            </a:pPr>
            <a:r>
              <a:t>One click install, permission checks, serverless provisioning and app sandboxing.</a:t>
            </a:r>
          </a:p>
        </p:txBody>
      </p:sp>
      <p:sp>
        <p:nvSpPr>
          <p:cNvPr id="21" name="Rounded Rectangle 20"/>
          <p:cNvSpPr/>
          <p:nvPr/>
        </p:nvSpPr>
        <p:spPr>
          <a:xfrm>
            <a:off x="685800" y="2944368"/>
            <a:ext cx="5925312" cy="157276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944368"/>
            <a:ext cx="91440" cy="1572768"/>
          </a:xfrm>
          <a:prstGeom prst="rect">
            <a:avLst/>
          </a:prstGeom>
          <a:solidFill>
            <a:srgbClr val="636F2C"/>
          </a:solidFill>
          <a:ln w="10160">
            <a:solidFill>
              <a:srgbClr val="636F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063240"/>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328416"/>
            <a:ext cx="5596128" cy="109728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This matters because every vendor app usually asks for another copy of sensitive data. Marketplace apps running closer to governed Databricks data could reduce export risk, shorten setup and make it easier to try specialist tools without creating another shadow data estate.</a:t>
            </a:r>
          </a:p>
        </p:txBody>
      </p:sp>
      <p:sp>
        <p:nvSpPr>
          <p:cNvPr id="25" name="Rounded Rectangle 24"/>
          <p:cNvSpPr/>
          <p:nvPr/>
        </p:nvSpPr>
        <p:spPr>
          <a:xfrm>
            <a:off x="685800" y="4700016"/>
            <a:ext cx="5925312" cy="107899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700016"/>
            <a:ext cx="91440" cy="1078992"/>
          </a:xfrm>
          <a:prstGeom prst="rect">
            <a:avLst/>
          </a:prstGeom>
          <a:solidFill>
            <a:srgbClr val="636F2C"/>
          </a:solidFill>
          <a:ln w="10160">
            <a:solidFill>
              <a:srgbClr val="636F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818888"/>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MEANS TO CUSTOMERS</a:t>
            </a:r>
          </a:p>
        </p:txBody>
      </p:sp>
      <p:sp>
        <p:nvSpPr>
          <p:cNvPr id="28" name="TextBox 27"/>
          <p:cNvSpPr txBox="1"/>
          <p:nvPr/>
        </p:nvSpPr>
        <p:spPr>
          <a:xfrm>
            <a:off x="886968" y="5084064"/>
            <a:ext cx="5596128" cy="603503"/>
          </a:xfrm>
          <a:prstGeom prst="rect">
            <a:avLst/>
          </a:prstGeom>
          <a:noFill/>
        </p:spPr>
        <p:txBody>
          <a:bodyPr wrap="square" lIns="27432" rIns="27432" tIns="18288" bIns="18288">
            <a:normAutofit/>
          </a:bodyPr>
          <a:lstStyle/>
          <a:p>
            <a:pPr>
              <a:lnSpc>
                <a:spcPct val="95000"/>
              </a:lnSpc>
              <a:defRPr sz="1110" b="0">
                <a:solidFill>
                  <a:srgbClr val="121217"/>
                </a:solidFill>
                <a:latin typeface="Aptos"/>
              </a:defRPr>
            </a:pPr>
            <a:r>
              <a:t>Customer meaning: companies can use specialist apps without copying customer data into every vendor environment, reducing privacy and security exposure.</a:t>
            </a:r>
          </a:p>
        </p:txBody>
      </p:sp>
      <p:sp>
        <p:nvSpPr>
          <p:cNvPr id="29" name="Rounded Rectangle 28"/>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1" name="TextBox 30"/>
          <p:cNvSpPr txBox="1"/>
          <p:nvPr/>
        </p:nvSpPr>
        <p:spPr>
          <a:xfrm>
            <a:off x="7187184" y="4151376"/>
            <a:ext cx="4041648" cy="1078992"/>
          </a:xfrm>
          <a:prstGeom prst="rect">
            <a:avLst/>
          </a:prstGeom>
          <a:noFill/>
        </p:spPr>
        <p:txBody>
          <a:bodyPr wrap="square" lIns="27432" rIns="27432" tIns="18288" bIns="18288">
            <a:normAutofit/>
          </a:bodyPr>
          <a:lstStyle/>
          <a:p>
            <a:pPr>
              <a:lnSpc>
                <a:spcPct val="95000"/>
              </a:lnSpc>
              <a:defRPr sz="1230" b="1">
                <a:solidFill>
                  <a:srgbClr val="FFFFFF"/>
                </a:solidFill>
                <a:latin typeface="Aptos"/>
              </a:defRPr>
            </a:pPr>
            <a:r>
              <a:t>Vendor apps can run closer to governed data instead of demanding another risky data export. That is a big deal for customer, loyalty and regulated datasets.</a:t>
            </a:r>
          </a:p>
        </p:txBody>
      </p:sp>
      <p:sp>
        <p:nvSpPr>
          <p:cNvPr id="32" name="TextBox 31"/>
          <p:cNvSpPr txBox="1"/>
          <p:nvPr/>
        </p:nvSpPr>
        <p:spPr>
          <a:xfrm>
            <a:off x="7187184" y="5303520"/>
            <a:ext cx="4041648" cy="274320"/>
          </a:xfrm>
          <a:prstGeom prst="rect">
            <a:avLst/>
          </a:prstGeom>
          <a:noFill/>
        </p:spPr>
        <p:txBody>
          <a:bodyPr wrap="square" lIns="27432" rIns="27432" tIns="18288" bIns="18288">
            <a:normAutofit/>
          </a:bodyPr>
          <a:lstStyle/>
          <a:p>
            <a:pPr>
              <a:lnSpc>
                <a:spcPct val="100000"/>
              </a:lnSpc>
              <a:defRPr sz="1050" b="1">
                <a:solidFill>
                  <a:srgbClr val="FFE2DB"/>
                </a:solidFill>
                <a:latin typeface="Georgia"/>
              </a:defRPr>
            </a:pPr>
            <a:r>
              <a:t>So what: It can shorten vendor setup and reduce data export risk.</a:t>
            </a:r>
          </a:p>
        </p:txBody>
      </p:sp>
      <p:sp>
        <p:nvSpPr>
          <p:cNvPr id="33" name="TextBox 32"/>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13/18 · Official Databricks source: https://www.databricks.com/blog/announcing-apps-databricks-marketplace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94492D"/>
          </a:solidFill>
          <a:ln w="10160">
            <a:solidFill>
              <a:srgbClr val="9449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94492D"/>
                </a:solidFill>
                <a:latin typeface="Aptos"/>
              </a:defRPr>
            </a:pPr>
            <a:r>
              <a:t>14</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App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2800" b="1">
                <a:solidFill>
                  <a:srgbClr val="212D5E"/>
                </a:solidFill>
                <a:latin typeface="Georgia"/>
              </a:defRPr>
            </a:pPr>
            <a:r>
              <a:t>App Spaces + Genie App Builder</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genie-app-builder.png"/>
          <p:cNvPicPr>
            <a:picLocks noChangeAspect="1"/>
          </p:cNvPicPr>
          <p:nvPr/>
        </p:nvPicPr>
        <p:blipFill>
          <a:blip r:embed="rId2"/>
          <a:stretch>
            <a:fillRect/>
          </a:stretch>
        </p:blipFill>
        <p:spPr>
          <a:xfrm>
            <a:off x="7113073" y="950976"/>
            <a:ext cx="4199013"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932688"/>
          </a:xfrm>
          <a:prstGeom prst="rect">
            <a:avLst/>
          </a:prstGeom>
          <a:solidFill>
            <a:srgbClr val="94492D"/>
          </a:solidFill>
          <a:ln w="10160">
            <a:solidFill>
              <a:srgbClr val="9449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457200"/>
          </a:xfrm>
          <a:prstGeom prst="rect">
            <a:avLst/>
          </a:prstGeom>
          <a:noFill/>
        </p:spPr>
        <p:txBody>
          <a:bodyPr wrap="square" lIns="27432" rIns="27432" tIns="18288" bIns="18288">
            <a:normAutofit/>
          </a:bodyPr>
          <a:lstStyle/>
          <a:p>
            <a:pPr>
              <a:lnSpc>
                <a:spcPct val="95000"/>
              </a:lnSpc>
              <a:defRPr sz="1120" b="0">
                <a:solidFill>
                  <a:srgbClr val="121217"/>
                </a:solidFill>
                <a:latin typeface="Aptos"/>
              </a:defRPr>
            </a:pPr>
            <a:r>
              <a:t>Databricks announced three app-building capabilities: App Spaces for governance, Genie App Builder for natural-language app creation, and a lightweight micro app runtime for cheaper scale-to-zero apps.</a:t>
            </a:r>
          </a:p>
        </p:txBody>
      </p:sp>
      <p:sp>
        <p:nvSpPr>
          <p:cNvPr id="17" name="Rounded Rectangle 16"/>
          <p:cNvSpPr/>
          <p:nvPr/>
        </p:nvSpPr>
        <p:spPr>
          <a:xfrm>
            <a:off x="3730752"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932688"/>
          </a:xfrm>
          <a:prstGeom prst="rect">
            <a:avLst/>
          </a:prstGeom>
          <a:solidFill>
            <a:srgbClr val="94492D"/>
          </a:solidFill>
          <a:ln w="10160">
            <a:solidFill>
              <a:srgbClr val="9449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CHANGED</a:t>
            </a:r>
          </a:p>
        </p:txBody>
      </p:sp>
      <p:sp>
        <p:nvSpPr>
          <p:cNvPr id="20" name="TextBox 19"/>
          <p:cNvSpPr txBox="1"/>
          <p:nvPr/>
        </p:nvSpPr>
        <p:spPr>
          <a:xfrm>
            <a:off x="3931920" y="2212848"/>
            <a:ext cx="2551176" cy="457200"/>
          </a:xfrm>
          <a:prstGeom prst="rect">
            <a:avLst/>
          </a:prstGeom>
          <a:noFill/>
        </p:spPr>
        <p:txBody>
          <a:bodyPr wrap="square" lIns="27432" rIns="27432" tIns="18288" bIns="18288">
            <a:normAutofit/>
          </a:bodyPr>
          <a:lstStyle/>
          <a:p>
            <a:pPr>
              <a:lnSpc>
                <a:spcPct val="95000"/>
              </a:lnSpc>
              <a:defRPr sz="1070" b="0">
                <a:solidFill>
                  <a:srgbClr val="121217"/>
                </a:solidFill>
                <a:latin typeface="Aptos"/>
              </a:defRPr>
            </a:pPr>
            <a:r>
              <a:t>App Spaces for governing groups of apps, Genie App Builder as the data-aware build agent, and a lightweight micro app runtime for cheaper scale-to-zero apps.</a:t>
            </a:r>
          </a:p>
        </p:txBody>
      </p:sp>
      <p:sp>
        <p:nvSpPr>
          <p:cNvPr id="21" name="Rounded Rectangle 20"/>
          <p:cNvSpPr/>
          <p:nvPr/>
        </p:nvSpPr>
        <p:spPr>
          <a:xfrm>
            <a:off x="685800" y="2944368"/>
            <a:ext cx="5925312" cy="157276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944368"/>
            <a:ext cx="91440" cy="1572768"/>
          </a:xfrm>
          <a:prstGeom prst="rect">
            <a:avLst/>
          </a:prstGeom>
          <a:solidFill>
            <a:srgbClr val="94492D"/>
          </a:solidFill>
          <a:ln w="10160">
            <a:solidFill>
              <a:srgbClr val="9449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063240"/>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328416"/>
            <a:ext cx="5596128" cy="109728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The useful AI work often shows up as small internal apps: a stock exception view, a campaign planner, a field sales tool, a service triage screen. This matters because it gives teams a faster route to build those apps while keeping them inside platform governance, cost controls and access rules.</a:t>
            </a:r>
          </a:p>
        </p:txBody>
      </p:sp>
      <p:sp>
        <p:nvSpPr>
          <p:cNvPr id="25" name="Rounded Rectangle 24"/>
          <p:cNvSpPr/>
          <p:nvPr/>
        </p:nvSpPr>
        <p:spPr>
          <a:xfrm>
            <a:off x="685800" y="4700016"/>
            <a:ext cx="5925312" cy="107899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700016"/>
            <a:ext cx="91440" cy="1078992"/>
          </a:xfrm>
          <a:prstGeom prst="rect">
            <a:avLst/>
          </a:prstGeom>
          <a:solidFill>
            <a:srgbClr val="94492D"/>
          </a:solidFill>
          <a:ln w="10160">
            <a:solidFill>
              <a:srgbClr val="9449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818888"/>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MEANS TO CUSTOMERS</a:t>
            </a:r>
          </a:p>
        </p:txBody>
      </p:sp>
      <p:sp>
        <p:nvSpPr>
          <p:cNvPr id="28" name="TextBox 27"/>
          <p:cNvSpPr txBox="1"/>
          <p:nvPr/>
        </p:nvSpPr>
        <p:spPr>
          <a:xfrm>
            <a:off x="886968" y="5084064"/>
            <a:ext cx="5596128" cy="603503"/>
          </a:xfrm>
          <a:prstGeom prst="rect">
            <a:avLst/>
          </a:prstGeom>
          <a:noFill/>
        </p:spPr>
        <p:txBody>
          <a:bodyPr wrap="square" lIns="27432" rIns="27432" tIns="18288" bIns="18288">
            <a:normAutofit/>
          </a:bodyPr>
          <a:lstStyle/>
          <a:p>
            <a:pPr>
              <a:lnSpc>
                <a:spcPct val="95000"/>
              </a:lnSpc>
              <a:defRPr sz="1110" b="0">
                <a:solidFill>
                  <a:srgbClr val="121217"/>
                </a:solidFill>
                <a:latin typeface="Aptos"/>
              </a:defRPr>
            </a:pPr>
            <a:r>
              <a:t>Customer meaning: teams can build small tools around real customer pain points quickly, such as a colleague app for substitutions, complaints, campaign checks or product queries.</a:t>
            </a:r>
          </a:p>
        </p:txBody>
      </p:sp>
      <p:sp>
        <p:nvSpPr>
          <p:cNvPr id="29" name="Rounded Rectangle 28"/>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1" name="TextBox 30"/>
          <p:cNvSpPr txBox="1"/>
          <p:nvPr/>
        </p:nvSpPr>
        <p:spPr>
          <a:xfrm>
            <a:off x="7187184" y="4151376"/>
            <a:ext cx="4041648" cy="1078992"/>
          </a:xfrm>
          <a:prstGeom prst="rect">
            <a:avLst/>
          </a:prstGeom>
          <a:noFill/>
        </p:spPr>
        <p:txBody>
          <a:bodyPr wrap="square" lIns="27432" rIns="27432" tIns="18288" bIns="18288">
            <a:normAutofit/>
          </a:bodyPr>
          <a:lstStyle/>
          <a:p>
            <a:pPr>
              <a:lnSpc>
                <a:spcPct val="95000"/>
              </a:lnSpc>
              <a:defRPr sz="1230" b="1">
                <a:solidFill>
                  <a:srgbClr val="FFFFFF"/>
                </a:solidFill>
                <a:latin typeface="Aptos"/>
              </a:defRPr>
            </a:pPr>
            <a:r>
              <a:t>Small internal apps are where AI becomes daily work. This offers a route to build them quickly without bypassing IT, security or data governance.</a:t>
            </a:r>
          </a:p>
        </p:txBody>
      </p:sp>
      <p:sp>
        <p:nvSpPr>
          <p:cNvPr id="32" name="TextBox 31"/>
          <p:cNvSpPr txBox="1"/>
          <p:nvPr/>
        </p:nvSpPr>
        <p:spPr>
          <a:xfrm>
            <a:off x="7187184" y="5303520"/>
            <a:ext cx="4041648" cy="274320"/>
          </a:xfrm>
          <a:prstGeom prst="rect">
            <a:avLst/>
          </a:prstGeom>
          <a:noFill/>
        </p:spPr>
        <p:txBody>
          <a:bodyPr wrap="square" lIns="27432" rIns="27432" tIns="18288" bIns="18288">
            <a:normAutofit/>
          </a:bodyPr>
          <a:lstStyle/>
          <a:p>
            <a:pPr>
              <a:lnSpc>
                <a:spcPct val="100000"/>
              </a:lnSpc>
              <a:defRPr sz="1050" b="1">
                <a:solidFill>
                  <a:srgbClr val="FFE2DB"/>
                </a:solidFill>
                <a:latin typeface="Georgia"/>
              </a:defRPr>
            </a:pPr>
            <a:r>
              <a:t>So what: It can cut small app backlogs without copying data out of Databricks.</a:t>
            </a:r>
          </a:p>
        </p:txBody>
      </p:sp>
      <p:sp>
        <p:nvSpPr>
          <p:cNvPr id="33" name="TextBox 32"/>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14/18 · Official Databricks source: https://www.databricks.com/blog/enabling-governed-vibe-coding-enterprise-apps-databricks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763957"/>
          </a:solidFill>
          <a:ln w="10160">
            <a:solidFill>
              <a:srgbClr val="7639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763957"/>
                </a:solidFill>
                <a:latin typeface="Aptos"/>
              </a:defRPr>
            </a:pPr>
            <a:r>
              <a:t>15</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Industry solution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3300" b="1">
                <a:solidFill>
                  <a:srgbClr val="212D5E"/>
                </a:solidFill>
                <a:latin typeface="Georgia"/>
              </a:defRPr>
            </a:pPr>
            <a:r>
              <a:t>CustomerLake</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ustomerlake.png"/>
          <p:cNvPicPr>
            <a:picLocks noChangeAspect="1"/>
          </p:cNvPicPr>
          <p:nvPr/>
        </p:nvPicPr>
        <p:blipFill>
          <a:blip r:embed="rId2"/>
          <a:stretch>
            <a:fillRect/>
          </a:stretch>
        </p:blipFill>
        <p:spPr>
          <a:xfrm>
            <a:off x="7115866" y="950976"/>
            <a:ext cx="4193426"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932688"/>
          </a:xfrm>
          <a:prstGeom prst="rect">
            <a:avLst/>
          </a:prstGeom>
          <a:solidFill>
            <a:srgbClr val="763957"/>
          </a:solidFill>
          <a:ln w="10160">
            <a:solidFill>
              <a:srgbClr val="7639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457200"/>
          </a:xfrm>
          <a:prstGeom prst="rect">
            <a:avLst/>
          </a:prstGeom>
          <a:noFill/>
        </p:spPr>
        <p:txBody>
          <a:bodyPr wrap="square" lIns="27432" rIns="27432" tIns="18288" bIns="18288">
            <a:normAutofit/>
          </a:bodyPr>
          <a:lstStyle/>
          <a:p>
            <a:pPr>
              <a:lnSpc>
                <a:spcPct val="95000"/>
              </a:lnSpc>
              <a:defRPr sz="1120" b="0">
                <a:solidFill>
                  <a:srgbClr val="121217"/>
                </a:solidFill>
                <a:latin typeface="Aptos"/>
              </a:defRPr>
            </a:pPr>
            <a:r>
              <a:t>CustomerLake is Databricks agentic customer data platform.</a:t>
            </a:r>
          </a:p>
        </p:txBody>
      </p:sp>
      <p:sp>
        <p:nvSpPr>
          <p:cNvPr id="17" name="Rounded Rectangle 16"/>
          <p:cNvSpPr/>
          <p:nvPr/>
        </p:nvSpPr>
        <p:spPr>
          <a:xfrm>
            <a:off x="3730752"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932688"/>
          </a:xfrm>
          <a:prstGeom prst="rect">
            <a:avLst/>
          </a:prstGeom>
          <a:solidFill>
            <a:srgbClr val="763957"/>
          </a:solidFill>
          <a:ln w="10160">
            <a:solidFill>
              <a:srgbClr val="7639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CHANGED</a:t>
            </a:r>
          </a:p>
        </p:txBody>
      </p:sp>
      <p:sp>
        <p:nvSpPr>
          <p:cNvPr id="20" name="TextBox 19"/>
          <p:cNvSpPr txBox="1"/>
          <p:nvPr/>
        </p:nvSpPr>
        <p:spPr>
          <a:xfrm>
            <a:off x="3931920" y="2212848"/>
            <a:ext cx="2551176" cy="457200"/>
          </a:xfrm>
          <a:prstGeom prst="rect">
            <a:avLst/>
          </a:prstGeom>
          <a:noFill/>
        </p:spPr>
        <p:txBody>
          <a:bodyPr wrap="square" lIns="27432" rIns="27432" tIns="18288" bIns="18288">
            <a:normAutofit/>
          </a:bodyPr>
          <a:lstStyle/>
          <a:p>
            <a:pPr>
              <a:lnSpc>
                <a:spcPct val="95000"/>
              </a:lnSpc>
              <a:defRPr sz="1070" b="0">
                <a:solidFill>
                  <a:srgbClr val="121217"/>
                </a:solidFill>
                <a:latin typeface="Aptos"/>
              </a:defRPr>
            </a:pPr>
            <a:r>
              <a:t>CustomerLake, Golden Context, marketing agents and agentic CDP workflows inside Databricks.</a:t>
            </a:r>
          </a:p>
        </p:txBody>
      </p:sp>
      <p:sp>
        <p:nvSpPr>
          <p:cNvPr id="21" name="Rounded Rectangle 20"/>
          <p:cNvSpPr/>
          <p:nvPr/>
        </p:nvSpPr>
        <p:spPr>
          <a:xfrm>
            <a:off x="685800" y="2944368"/>
            <a:ext cx="5925312" cy="157276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944368"/>
            <a:ext cx="91440" cy="1572768"/>
          </a:xfrm>
          <a:prstGeom prst="rect">
            <a:avLst/>
          </a:prstGeom>
          <a:solidFill>
            <a:srgbClr val="763957"/>
          </a:solidFill>
          <a:ln w="10160">
            <a:solidFill>
              <a:srgbClr val="7639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063240"/>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328416"/>
            <a:ext cx="5596128" cy="109728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Customer AI needs more than a profile table. It needs consent, identity, behaviour, transactions, preferences and journey context in one place agents can use safely. CustomerLake matters because it aims to make personalisation and customer service more actionable without spraying customer data across tools.</a:t>
            </a:r>
          </a:p>
        </p:txBody>
      </p:sp>
      <p:sp>
        <p:nvSpPr>
          <p:cNvPr id="25" name="Rounded Rectangle 24"/>
          <p:cNvSpPr/>
          <p:nvPr/>
        </p:nvSpPr>
        <p:spPr>
          <a:xfrm>
            <a:off x="685800" y="4700016"/>
            <a:ext cx="5925312" cy="107899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700016"/>
            <a:ext cx="91440" cy="1078992"/>
          </a:xfrm>
          <a:prstGeom prst="rect">
            <a:avLst/>
          </a:prstGeom>
          <a:solidFill>
            <a:srgbClr val="763957"/>
          </a:solidFill>
          <a:ln w="10160">
            <a:solidFill>
              <a:srgbClr val="7639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818888"/>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MEANS TO CUSTOMERS</a:t>
            </a:r>
          </a:p>
        </p:txBody>
      </p:sp>
      <p:sp>
        <p:nvSpPr>
          <p:cNvPr id="28" name="TextBox 27"/>
          <p:cNvSpPr txBox="1"/>
          <p:nvPr/>
        </p:nvSpPr>
        <p:spPr>
          <a:xfrm>
            <a:off x="886968" y="5084064"/>
            <a:ext cx="5596128" cy="603503"/>
          </a:xfrm>
          <a:prstGeom prst="rect">
            <a:avLst/>
          </a:prstGeom>
          <a:noFill/>
        </p:spPr>
        <p:txBody>
          <a:bodyPr wrap="square" lIns="27432" rIns="27432" tIns="18288" bIns="18288">
            <a:normAutofit/>
          </a:bodyPr>
          <a:lstStyle/>
          <a:p>
            <a:pPr>
              <a:lnSpc>
                <a:spcPct val="95000"/>
              </a:lnSpc>
              <a:defRPr sz="1110" b="0">
                <a:solidFill>
                  <a:srgbClr val="121217"/>
                </a:solidFill>
                <a:latin typeface="Aptos"/>
              </a:defRPr>
            </a:pPr>
            <a:r>
              <a:t>Customer meaning: more relevant offers and service because the AI can see joined-up context, but only if consent, preference and suppression rules are treated as first-class data.</a:t>
            </a:r>
          </a:p>
        </p:txBody>
      </p:sp>
      <p:sp>
        <p:nvSpPr>
          <p:cNvPr id="29" name="Rounded Rectangle 28"/>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1" name="TextBox 30"/>
          <p:cNvSpPr txBox="1"/>
          <p:nvPr/>
        </p:nvSpPr>
        <p:spPr>
          <a:xfrm>
            <a:off x="7187184" y="4151376"/>
            <a:ext cx="4041648" cy="1078992"/>
          </a:xfrm>
          <a:prstGeom prst="rect">
            <a:avLst/>
          </a:prstGeom>
          <a:noFill/>
        </p:spPr>
        <p:txBody>
          <a:bodyPr wrap="square" lIns="27432" rIns="27432" tIns="18288" bIns="18288">
            <a:normAutofit/>
          </a:bodyPr>
          <a:lstStyle/>
          <a:p>
            <a:pPr>
              <a:lnSpc>
                <a:spcPct val="95000"/>
              </a:lnSpc>
              <a:defRPr sz="1230" b="1">
                <a:solidFill>
                  <a:srgbClr val="FFFFFF"/>
                </a:solidFill>
                <a:latin typeface="Aptos"/>
              </a:defRPr>
            </a:pPr>
            <a:r>
              <a:t>Customer AI needs consent-aware, joined-up context. This is directly relevant to loyalty, next-best-action, personalisation and service journeys.</a:t>
            </a:r>
          </a:p>
        </p:txBody>
      </p:sp>
      <p:sp>
        <p:nvSpPr>
          <p:cNvPr id="32" name="TextBox 31"/>
          <p:cNvSpPr txBox="1"/>
          <p:nvPr/>
        </p:nvSpPr>
        <p:spPr>
          <a:xfrm>
            <a:off x="7187184" y="5303520"/>
            <a:ext cx="4041648" cy="274320"/>
          </a:xfrm>
          <a:prstGeom prst="rect">
            <a:avLst/>
          </a:prstGeom>
          <a:noFill/>
        </p:spPr>
        <p:txBody>
          <a:bodyPr wrap="square" lIns="27432" rIns="27432" tIns="18288" bIns="18288">
            <a:normAutofit/>
          </a:bodyPr>
          <a:lstStyle/>
          <a:p>
            <a:pPr>
              <a:lnSpc>
                <a:spcPct val="100000"/>
              </a:lnSpc>
              <a:defRPr sz="1050" b="1">
                <a:solidFill>
                  <a:srgbClr val="FFE2DB"/>
                </a:solidFill>
                <a:latin typeface="Georgia"/>
              </a:defRPr>
            </a:pPr>
            <a:r>
              <a:t>So what: It can reduce customer data platform sprawl and speed personalisation, but consent and governance need tight ownership.</a:t>
            </a:r>
          </a:p>
        </p:txBody>
      </p:sp>
      <p:sp>
        <p:nvSpPr>
          <p:cNvPr id="33" name="TextBox 32"/>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15/18 · Official Databricks source: https://www.databricks.com/blog/introducing-customerlake-agentic-cdp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2B495B"/>
          </a:solidFill>
          <a:ln w="10160">
            <a:solidFill>
              <a:srgbClr val="2B4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2B495B"/>
                </a:solidFill>
                <a:latin typeface="Aptos"/>
              </a:defRPr>
            </a:pPr>
            <a:r>
              <a:t>16</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Observability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3300" b="1">
                <a:solidFill>
                  <a:srgbClr val="212D5E"/>
                </a:solidFill>
                <a:latin typeface="Georgia"/>
              </a:defRPr>
            </a:pPr>
            <a:r>
              <a:t>Lakewatch + Panther</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akewatch-and-panther.png"/>
          <p:cNvPicPr>
            <a:picLocks noChangeAspect="1"/>
          </p:cNvPicPr>
          <p:nvPr/>
        </p:nvPicPr>
        <p:blipFill>
          <a:blip r:embed="rId2"/>
          <a:stretch>
            <a:fillRect/>
          </a:stretch>
        </p:blipFill>
        <p:spPr>
          <a:xfrm>
            <a:off x="7122522" y="950976"/>
            <a:ext cx="4180114"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932688"/>
          </a:xfrm>
          <a:prstGeom prst="rect">
            <a:avLst/>
          </a:prstGeom>
          <a:solidFill>
            <a:srgbClr val="2B495B"/>
          </a:solidFill>
          <a:ln w="10160">
            <a:solidFill>
              <a:srgbClr val="2B4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457200"/>
          </a:xfrm>
          <a:prstGeom prst="rect">
            <a:avLst/>
          </a:prstGeom>
          <a:noFill/>
        </p:spPr>
        <p:txBody>
          <a:bodyPr wrap="square" lIns="27432" rIns="27432" tIns="18288" bIns="18288">
            <a:normAutofit/>
          </a:bodyPr>
          <a:lstStyle/>
          <a:p>
            <a:pPr>
              <a:lnSpc>
                <a:spcPct val="95000"/>
              </a:lnSpc>
              <a:defRPr sz="1120" b="0">
                <a:solidFill>
                  <a:srgbClr val="121217"/>
                </a:solidFill>
                <a:latin typeface="Aptos"/>
              </a:defRPr>
            </a:pPr>
            <a:r>
              <a:t>Lakewatch is Databricks agentic SIEM built on a security lakehouse.</a:t>
            </a:r>
          </a:p>
        </p:txBody>
      </p:sp>
      <p:sp>
        <p:nvSpPr>
          <p:cNvPr id="17" name="Rounded Rectangle 16"/>
          <p:cNvSpPr/>
          <p:nvPr/>
        </p:nvSpPr>
        <p:spPr>
          <a:xfrm>
            <a:off x="3730752"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932688"/>
          </a:xfrm>
          <a:prstGeom prst="rect">
            <a:avLst/>
          </a:prstGeom>
          <a:solidFill>
            <a:srgbClr val="2B495B"/>
          </a:solidFill>
          <a:ln w="10160">
            <a:solidFill>
              <a:srgbClr val="2B4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CHANGED</a:t>
            </a:r>
          </a:p>
        </p:txBody>
      </p:sp>
      <p:sp>
        <p:nvSpPr>
          <p:cNvPr id="20" name="TextBox 19"/>
          <p:cNvSpPr txBox="1"/>
          <p:nvPr/>
        </p:nvSpPr>
        <p:spPr>
          <a:xfrm>
            <a:off x="3931920" y="2212848"/>
            <a:ext cx="2551176" cy="457200"/>
          </a:xfrm>
          <a:prstGeom prst="rect">
            <a:avLst/>
          </a:prstGeom>
          <a:noFill/>
        </p:spPr>
        <p:txBody>
          <a:bodyPr wrap="square" lIns="27432" rIns="27432" tIns="18288" bIns="18288">
            <a:normAutofit/>
          </a:bodyPr>
          <a:lstStyle/>
          <a:p>
            <a:pPr>
              <a:lnSpc>
                <a:spcPct val="95000"/>
              </a:lnSpc>
              <a:defRPr sz="1070" b="0">
                <a:solidFill>
                  <a:srgbClr val="121217"/>
                </a:solidFill>
                <a:latin typeface="Aptos"/>
              </a:defRPr>
            </a:pPr>
            <a:r>
              <a:t>Lakewatch, Panther ecosystem links, security data connectors, AI assisted investigation and open security lakehouse positioning.</a:t>
            </a:r>
          </a:p>
        </p:txBody>
      </p:sp>
      <p:sp>
        <p:nvSpPr>
          <p:cNvPr id="21" name="Rounded Rectangle 20"/>
          <p:cNvSpPr/>
          <p:nvPr/>
        </p:nvSpPr>
        <p:spPr>
          <a:xfrm>
            <a:off x="685800" y="2944368"/>
            <a:ext cx="5925312" cy="157276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944368"/>
            <a:ext cx="91440" cy="1572768"/>
          </a:xfrm>
          <a:prstGeom prst="rect">
            <a:avLst/>
          </a:prstGeom>
          <a:solidFill>
            <a:srgbClr val="2B495B"/>
          </a:solidFill>
          <a:ln w="10160">
            <a:solidFill>
              <a:srgbClr val="2B4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063240"/>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328416"/>
            <a:ext cx="5596128" cy="109728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Security teams are drowning in data and cost. This matters because AI increases the attack surface while also creating more telemetry to inspect. A lakehouse SIEM approach could keep longer history at lower cost and give analysts agent assistance for investigation and response.</a:t>
            </a:r>
          </a:p>
        </p:txBody>
      </p:sp>
      <p:sp>
        <p:nvSpPr>
          <p:cNvPr id="25" name="Rounded Rectangle 24"/>
          <p:cNvSpPr/>
          <p:nvPr/>
        </p:nvSpPr>
        <p:spPr>
          <a:xfrm>
            <a:off x="685800" y="4700016"/>
            <a:ext cx="5925312" cy="107899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700016"/>
            <a:ext cx="91440" cy="1078992"/>
          </a:xfrm>
          <a:prstGeom prst="rect">
            <a:avLst/>
          </a:prstGeom>
          <a:solidFill>
            <a:srgbClr val="2B495B"/>
          </a:solidFill>
          <a:ln w="10160">
            <a:solidFill>
              <a:srgbClr val="2B4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818888"/>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MEANS TO CUSTOMERS</a:t>
            </a:r>
          </a:p>
        </p:txBody>
      </p:sp>
      <p:sp>
        <p:nvSpPr>
          <p:cNvPr id="28" name="TextBox 27"/>
          <p:cNvSpPr txBox="1"/>
          <p:nvPr/>
        </p:nvSpPr>
        <p:spPr>
          <a:xfrm>
            <a:off x="886968" y="5084064"/>
            <a:ext cx="5596128" cy="603503"/>
          </a:xfrm>
          <a:prstGeom prst="rect">
            <a:avLst/>
          </a:prstGeom>
          <a:noFill/>
        </p:spPr>
        <p:txBody>
          <a:bodyPr wrap="square" lIns="27432" rIns="27432" tIns="18288" bIns="18288">
            <a:normAutofit/>
          </a:bodyPr>
          <a:lstStyle/>
          <a:p>
            <a:pPr>
              <a:lnSpc>
                <a:spcPct val="95000"/>
              </a:lnSpc>
              <a:defRPr sz="1110" b="0">
                <a:solidFill>
                  <a:srgbClr val="121217"/>
                </a:solidFill>
                <a:latin typeface="Aptos"/>
              </a:defRPr>
            </a:pPr>
            <a:r>
              <a:t>Customer meaning: better protection of customer and payment data. Longer security history and faster investigations can reduce breach dwell time and operational disruption.</a:t>
            </a:r>
          </a:p>
        </p:txBody>
      </p:sp>
      <p:sp>
        <p:nvSpPr>
          <p:cNvPr id="29" name="Rounded Rectangle 28"/>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1" name="TextBox 30"/>
          <p:cNvSpPr txBox="1"/>
          <p:nvPr/>
        </p:nvSpPr>
        <p:spPr>
          <a:xfrm>
            <a:off x="7187184" y="4151376"/>
            <a:ext cx="4041648" cy="1078992"/>
          </a:xfrm>
          <a:prstGeom prst="rect">
            <a:avLst/>
          </a:prstGeom>
          <a:noFill/>
        </p:spPr>
        <p:txBody>
          <a:bodyPr wrap="square" lIns="27432" rIns="27432" tIns="18288" bIns="18288">
            <a:normAutofit/>
          </a:bodyPr>
          <a:lstStyle/>
          <a:p>
            <a:pPr>
              <a:lnSpc>
                <a:spcPct val="95000"/>
              </a:lnSpc>
              <a:defRPr sz="1230" b="1">
                <a:solidFill>
                  <a:srgbClr val="FFFFFF"/>
                </a:solidFill>
                <a:latin typeface="Aptos"/>
              </a:defRPr>
            </a:pPr>
            <a:r>
              <a:t>Security teams need cheaper retention and faster investigation as AI expands the attack surface. A lakehouse SIEM story could change the economics.</a:t>
            </a:r>
          </a:p>
        </p:txBody>
      </p:sp>
      <p:sp>
        <p:nvSpPr>
          <p:cNvPr id="32" name="TextBox 31"/>
          <p:cNvSpPr txBox="1"/>
          <p:nvPr/>
        </p:nvSpPr>
        <p:spPr>
          <a:xfrm>
            <a:off x="7187184" y="5303520"/>
            <a:ext cx="4041648" cy="274320"/>
          </a:xfrm>
          <a:prstGeom prst="rect">
            <a:avLst/>
          </a:prstGeom>
          <a:noFill/>
        </p:spPr>
        <p:txBody>
          <a:bodyPr wrap="square" lIns="27432" rIns="27432" tIns="18288" bIns="18288">
            <a:normAutofit/>
          </a:bodyPr>
          <a:lstStyle/>
          <a:p>
            <a:pPr>
              <a:lnSpc>
                <a:spcPct val="100000"/>
              </a:lnSpc>
              <a:defRPr sz="1050" b="1">
                <a:solidFill>
                  <a:srgbClr val="FFE2DB"/>
                </a:solidFill>
                <a:latin typeface="Georgia"/>
              </a:defRPr>
            </a:pPr>
            <a:r>
              <a:t>So what: It can reduce security storage pressure and help analysts investigate faster, if connector coverage and detection quality are good enough.</a:t>
            </a:r>
          </a:p>
        </p:txBody>
      </p:sp>
      <p:sp>
        <p:nvSpPr>
          <p:cNvPr id="33" name="TextBox 32"/>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16/18 · Official Databricks source: https://www.databricks.com/blog/databricks-announces-lakewatch-new-agentic-siem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67409D"/>
          </a:solidFill>
          <a:ln w="10160">
            <a:solidFill>
              <a:srgbClr val="67409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67409D"/>
                </a:solidFill>
                <a:latin typeface="Aptos"/>
              </a:defRPr>
            </a:pPr>
            <a:r>
              <a:t>17</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Agent operations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3300" b="1">
                <a:solidFill>
                  <a:srgbClr val="212D5E"/>
                </a:solidFill>
                <a:latin typeface="Georgia"/>
              </a:defRPr>
            </a:pPr>
            <a:r>
              <a:t>Omnigent</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omnigent.png"/>
          <p:cNvPicPr>
            <a:picLocks noChangeAspect="1"/>
          </p:cNvPicPr>
          <p:nvPr/>
        </p:nvPicPr>
        <p:blipFill>
          <a:blip r:embed="rId2"/>
          <a:stretch>
            <a:fillRect/>
          </a:stretch>
        </p:blipFill>
        <p:spPr>
          <a:xfrm>
            <a:off x="7115866" y="950976"/>
            <a:ext cx="4193426"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932688"/>
          </a:xfrm>
          <a:prstGeom prst="rect">
            <a:avLst/>
          </a:prstGeom>
          <a:solidFill>
            <a:srgbClr val="67409D"/>
          </a:solidFill>
          <a:ln w="10160">
            <a:solidFill>
              <a:srgbClr val="67409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457200"/>
          </a:xfrm>
          <a:prstGeom prst="rect">
            <a:avLst/>
          </a:prstGeom>
          <a:noFill/>
        </p:spPr>
        <p:txBody>
          <a:bodyPr wrap="square" lIns="27432" rIns="27432" tIns="18288" bIns="18288">
            <a:normAutofit/>
          </a:bodyPr>
          <a:lstStyle/>
          <a:p>
            <a:pPr>
              <a:lnSpc>
                <a:spcPct val="95000"/>
              </a:lnSpc>
              <a:defRPr sz="1120" b="0">
                <a:solidFill>
                  <a:srgbClr val="121217"/>
                </a:solidFill>
                <a:latin typeface="Aptos"/>
              </a:defRPr>
            </a:pPr>
            <a:r>
              <a:t>Omnigent is an open source harness for working with different agents.</a:t>
            </a:r>
          </a:p>
        </p:txBody>
      </p:sp>
      <p:sp>
        <p:nvSpPr>
          <p:cNvPr id="17" name="Rounded Rectangle 16"/>
          <p:cNvSpPr/>
          <p:nvPr/>
        </p:nvSpPr>
        <p:spPr>
          <a:xfrm>
            <a:off x="3730752"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932688"/>
          </a:xfrm>
          <a:prstGeom prst="rect">
            <a:avLst/>
          </a:prstGeom>
          <a:solidFill>
            <a:srgbClr val="67409D"/>
          </a:solidFill>
          <a:ln w="10160">
            <a:solidFill>
              <a:srgbClr val="67409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CHANGED</a:t>
            </a:r>
          </a:p>
        </p:txBody>
      </p:sp>
      <p:sp>
        <p:nvSpPr>
          <p:cNvPr id="20" name="TextBox 19"/>
          <p:cNvSpPr txBox="1"/>
          <p:nvPr/>
        </p:nvSpPr>
        <p:spPr>
          <a:xfrm>
            <a:off x="3931920" y="2212848"/>
            <a:ext cx="2551176" cy="457200"/>
          </a:xfrm>
          <a:prstGeom prst="rect">
            <a:avLst/>
          </a:prstGeom>
          <a:noFill/>
        </p:spPr>
        <p:txBody>
          <a:bodyPr wrap="square" lIns="27432" rIns="27432" tIns="18288" bIns="18288">
            <a:normAutofit/>
          </a:bodyPr>
          <a:lstStyle/>
          <a:p>
            <a:pPr>
              <a:lnSpc>
                <a:spcPct val="95000"/>
              </a:lnSpc>
              <a:defRPr sz="1070" b="0">
                <a:solidFill>
                  <a:srgbClr val="121217"/>
                </a:solidFill>
                <a:latin typeface="Aptos"/>
              </a:defRPr>
            </a:pPr>
            <a:r>
              <a:t>A shared harness for composing, controlling and sharing agents with sandbox patterns.</a:t>
            </a:r>
          </a:p>
        </p:txBody>
      </p:sp>
      <p:sp>
        <p:nvSpPr>
          <p:cNvPr id="21" name="Rounded Rectangle 20"/>
          <p:cNvSpPr/>
          <p:nvPr/>
        </p:nvSpPr>
        <p:spPr>
          <a:xfrm>
            <a:off x="685800" y="2944368"/>
            <a:ext cx="5925312" cy="157276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944368"/>
            <a:ext cx="91440" cy="1572768"/>
          </a:xfrm>
          <a:prstGeom prst="rect">
            <a:avLst/>
          </a:prstGeom>
          <a:solidFill>
            <a:srgbClr val="67409D"/>
          </a:solidFill>
          <a:ln w="10160">
            <a:solidFill>
              <a:srgbClr val="67409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063240"/>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328416"/>
            <a:ext cx="5596128" cy="109728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Enterprises will not have one agent. They will have many: vendor agents, internal agents, copilots and workflow agents. Omnigent matters because it points to the next management problem: comparing, composing, sandboxing and sharing agents without letting the estate become chaos.</a:t>
            </a:r>
          </a:p>
        </p:txBody>
      </p:sp>
      <p:sp>
        <p:nvSpPr>
          <p:cNvPr id="25" name="Rounded Rectangle 24"/>
          <p:cNvSpPr/>
          <p:nvPr/>
        </p:nvSpPr>
        <p:spPr>
          <a:xfrm>
            <a:off x="685800" y="4700016"/>
            <a:ext cx="5925312" cy="107899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700016"/>
            <a:ext cx="91440" cy="1078992"/>
          </a:xfrm>
          <a:prstGeom prst="rect">
            <a:avLst/>
          </a:prstGeom>
          <a:solidFill>
            <a:srgbClr val="67409D"/>
          </a:solidFill>
          <a:ln w="10160">
            <a:solidFill>
              <a:srgbClr val="67409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818888"/>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MEANS TO CUSTOMERS</a:t>
            </a:r>
          </a:p>
        </p:txBody>
      </p:sp>
      <p:sp>
        <p:nvSpPr>
          <p:cNvPr id="28" name="TextBox 27"/>
          <p:cNvSpPr txBox="1"/>
          <p:nvPr/>
        </p:nvSpPr>
        <p:spPr>
          <a:xfrm>
            <a:off x="886968" y="5084064"/>
            <a:ext cx="5596128" cy="603503"/>
          </a:xfrm>
          <a:prstGeom prst="rect">
            <a:avLst/>
          </a:prstGeom>
          <a:noFill/>
        </p:spPr>
        <p:txBody>
          <a:bodyPr wrap="square" lIns="27432" rIns="27432" tIns="18288" bIns="18288">
            <a:normAutofit/>
          </a:bodyPr>
          <a:lstStyle/>
          <a:p>
            <a:pPr>
              <a:lnSpc>
                <a:spcPct val="95000"/>
              </a:lnSpc>
              <a:defRPr sz="1110" b="0">
                <a:solidFill>
                  <a:srgbClr val="121217"/>
                </a:solidFill>
                <a:latin typeface="Aptos"/>
              </a:defRPr>
            </a:pPr>
            <a:r>
              <a:t>Customer meaning: customers experience fewer disconnected AI behaviours. The company can test and compare agents before letting them touch real journeys.</a:t>
            </a:r>
          </a:p>
        </p:txBody>
      </p:sp>
      <p:sp>
        <p:nvSpPr>
          <p:cNvPr id="29" name="Rounded Rectangle 28"/>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1" name="TextBox 30"/>
          <p:cNvSpPr txBox="1"/>
          <p:nvPr/>
        </p:nvSpPr>
        <p:spPr>
          <a:xfrm>
            <a:off x="7187184" y="4151376"/>
            <a:ext cx="4041648" cy="1078992"/>
          </a:xfrm>
          <a:prstGeom prst="rect">
            <a:avLst/>
          </a:prstGeom>
          <a:noFill/>
        </p:spPr>
        <p:txBody>
          <a:bodyPr wrap="square" lIns="27432" rIns="27432" tIns="18288" bIns="18288">
            <a:normAutofit/>
          </a:bodyPr>
          <a:lstStyle/>
          <a:p>
            <a:pPr>
              <a:lnSpc>
                <a:spcPct val="95000"/>
              </a:lnSpc>
              <a:defRPr sz="1230" b="1">
                <a:solidFill>
                  <a:srgbClr val="FFFFFF"/>
                </a:solidFill>
                <a:latin typeface="Aptos"/>
              </a:defRPr>
            </a:pPr>
            <a:r>
              <a:t>Agent sprawl is coming. A harness for comparing, composing and controlling agents helps platform teams avoid twenty disconnected assistants.</a:t>
            </a:r>
          </a:p>
        </p:txBody>
      </p:sp>
      <p:sp>
        <p:nvSpPr>
          <p:cNvPr id="32" name="TextBox 31"/>
          <p:cNvSpPr txBox="1"/>
          <p:nvPr/>
        </p:nvSpPr>
        <p:spPr>
          <a:xfrm>
            <a:off x="7187184" y="5303520"/>
            <a:ext cx="4041648" cy="274320"/>
          </a:xfrm>
          <a:prstGeom prst="rect">
            <a:avLst/>
          </a:prstGeom>
          <a:noFill/>
        </p:spPr>
        <p:txBody>
          <a:bodyPr wrap="square" lIns="27432" rIns="27432" tIns="18288" bIns="18288">
            <a:normAutofit/>
          </a:bodyPr>
          <a:lstStyle/>
          <a:p>
            <a:pPr>
              <a:lnSpc>
                <a:spcPct val="100000"/>
              </a:lnSpc>
              <a:defRPr sz="1050" b="1">
                <a:solidFill>
                  <a:srgbClr val="FFE2DB"/>
                </a:solidFill>
                <a:latin typeface="Georgia"/>
              </a:defRPr>
            </a:pPr>
            <a:r>
              <a:t>So what: It can reduce agent sprawl, though it adds another layer to manage.</a:t>
            </a:r>
          </a:p>
        </p:txBody>
      </p:sp>
      <p:sp>
        <p:nvSpPr>
          <p:cNvPr id="33" name="TextBox 32"/>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17/18 · Official Databricks source: https://www.databricks.com/blog/introducing-omnigent-meta-harness-combine-control-and-share-your-agents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AA2923"/>
                </a:solidFill>
                <a:latin typeface="Aptos"/>
              </a:defRPr>
            </a:pPr>
            <a:r>
              <a:t>18</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Governance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2800" b="1">
                <a:solidFill>
                  <a:srgbClr val="212D5E"/>
                </a:solidFill>
                <a:latin typeface="Georgia"/>
              </a:defRPr>
            </a:pPr>
            <a:r>
              <a:t>Platform security + compliance</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latform-security-and-compliance.png"/>
          <p:cNvPicPr>
            <a:picLocks noChangeAspect="1"/>
          </p:cNvPicPr>
          <p:nvPr/>
        </p:nvPicPr>
        <p:blipFill>
          <a:blip r:embed="rId2"/>
          <a:stretch>
            <a:fillRect/>
          </a:stretch>
        </p:blipFill>
        <p:spPr>
          <a:xfrm>
            <a:off x="7117582" y="950976"/>
            <a:ext cx="4189995"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932688"/>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457200"/>
          </a:xfrm>
          <a:prstGeom prst="rect">
            <a:avLst/>
          </a:prstGeom>
          <a:noFill/>
        </p:spPr>
        <p:txBody>
          <a:bodyPr wrap="square" lIns="27432" rIns="27432" tIns="18288" bIns="18288">
            <a:normAutofit/>
          </a:bodyPr>
          <a:lstStyle/>
          <a:p>
            <a:pPr>
              <a:lnSpc>
                <a:spcPct val="95000"/>
              </a:lnSpc>
              <a:defRPr sz="1120" b="0">
                <a:solidFill>
                  <a:srgbClr val="121217"/>
                </a:solidFill>
                <a:latin typeface="Aptos"/>
              </a:defRPr>
            </a:pPr>
            <a:r>
              <a:t>Databricks announced security and compliance updates for the platform.</a:t>
            </a:r>
          </a:p>
        </p:txBody>
      </p:sp>
      <p:sp>
        <p:nvSpPr>
          <p:cNvPr id="17" name="Rounded Rectangle 16"/>
          <p:cNvSpPr/>
          <p:nvPr/>
        </p:nvSpPr>
        <p:spPr>
          <a:xfrm>
            <a:off x="3730752" y="1828800"/>
            <a:ext cx="2880360" cy="93268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932688"/>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CHANGED</a:t>
            </a:r>
          </a:p>
        </p:txBody>
      </p:sp>
      <p:sp>
        <p:nvSpPr>
          <p:cNvPr id="20" name="TextBox 19"/>
          <p:cNvSpPr txBox="1"/>
          <p:nvPr/>
        </p:nvSpPr>
        <p:spPr>
          <a:xfrm>
            <a:off x="3931920" y="2212848"/>
            <a:ext cx="2551176" cy="457200"/>
          </a:xfrm>
          <a:prstGeom prst="rect">
            <a:avLst/>
          </a:prstGeom>
          <a:noFill/>
        </p:spPr>
        <p:txBody>
          <a:bodyPr wrap="square" lIns="27432" rIns="27432" tIns="18288" bIns="18288">
            <a:normAutofit/>
          </a:bodyPr>
          <a:lstStyle/>
          <a:p>
            <a:pPr>
              <a:lnSpc>
                <a:spcPct val="95000"/>
              </a:lnSpc>
              <a:defRPr sz="1070" b="0">
                <a:solidFill>
                  <a:srgbClr val="121217"/>
                </a:solidFill>
                <a:latin typeface="Aptos"/>
              </a:defRPr>
            </a:pPr>
            <a:r>
              <a:t>Identity, zero trust ingress, private networking and compliance coverage updates.</a:t>
            </a:r>
          </a:p>
        </p:txBody>
      </p:sp>
      <p:sp>
        <p:nvSpPr>
          <p:cNvPr id="21" name="Rounded Rectangle 20"/>
          <p:cNvSpPr/>
          <p:nvPr/>
        </p:nvSpPr>
        <p:spPr>
          <a:xfrm>
            <a:off x="685800" y="2944368"/>
            <a:ext cx="5925312" cy="157276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944368"/>
            <a:ext cx="91440" cy="1572768"/>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063240"/>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328416"/>
            <a:ext cx="5596128" cy="109728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This is the boring-but-essential layer. Boards, CISOs and procurement teams will not approve AI at scale unless identity, private networking, zero-trust ingress, audit and compliance are credible. Security updates matter because they decide whether pilots can become production services.</a:t>
            </a:r>
          </a:p>
        </p:txBody>
      </p:sp>
      <p:sp>
        <p:nvSpPr>
          <p:cNvPr id="25" name="Rounded Rectangle 24"/>
          <p:cNvSpPr/>
          <p:nvPr/>
        </p:nvSpPr>
        <p:spPr>
          <a:xfrm>
            <a:off x="685800" y="4700016"/>
            <a:ext cx="5925312" cy="107899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700016"/>
            <a:ext cx="91440" cy="1078992"/>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818888"/>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MEANS TO CUSTOMERS</a:t>
            </a:r>
          </a:p>
        </p:txBody>
      </p:sp>
      <p:sp>
        <p:nvSpPr>
          <p:cNvPr id="28" name="TextBox 27"/>
          <p:cNvSpPr txBox="1"/>
          <p:nvPr/>
        </p:nvSpPr>
        <p:spPr>
          <a:xfrm>
            <a:off x="886968" y="5084064"/>
            <a:ext cx="5596128" cy="603503"/>
          </a:xfrm>
          <a:prstGeom prst="rect">
            <a:avLst/>
          </a:prstGeom>
          <a:noFill/>
        </p:spPr>
        <p:txBody>
          <a:bodyPr wrap="square" lIns="27432" rIns="27432" tIns="18288" bIns="18288">
            <a:normAutofit/>
          </a:bodyPr>
          <a:lstStyle/>
          <a:p>
            <a:pPr>
              <a:lnSpc>
                <a:spcPct val="95000"/>
              </a:lnSpc>
              <a:defRPr sz="1110" b="0">
                <a:solidFill>
                  <a:srgbClr val="121217"/>
                </a:solidFill>
                <a:latin typeface="Aptos"/>
              </a:defRPr>
            </a:pPr>
            <a:r>
              <a:t>Customer meaning: AI can be used in sensitive journeys — payments, identity, service, colleague tools — without asking customers to accept a weaker security posture.</a:t>
            </a:r>
          </a:p>
        </p:txBody>
      </p:sp>
      <p:sp>
        <p:nvSpPr>
          <p:cNvPr id="29" name="Rounded Rectangle 28"/>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1" name="TextBox 30"/>
          <p:cNvSpPr txBox="1"/>
          <p:nvPr/>
        </p:nvSpPr>
        <p:spPr>
          <a:xfrm>
            <a:off x="7187184" y="4151376"/>
            <a:ext cx="4041648" cy="1078992"/>
          </a:xfrm>
          <a:prstGeom prst="rect">
            <a:avLst/>
          </a:prstGeom>
          <a:noFill/>
        </p:spPr>
        <p:txBody>
          <a:bodyPr wrap="square" lIns="27432" rIns="27432" tIns="18288" bIns="18288">
            <a:normAutofit/>
          </a:bodyPr>
          <a:lstStyle/>
          <a:p>
            <a:pPr>
              <a:lnSpc>
                <a:spcPct val="95000"/>
              </a:lnSpc>
              <a:defRPr sz="1230" b="1">
                <a:solidFill>
                  <a:srgbClr val="FFFFFF"/>
                </a:solidFill>
                <a:latin typeface="Aptos"/>
              </a:defRPr>
            </a:pPr>
            <a:r>
              <a:t>UK boards will not scale AI on vibes. Identity, network isolation and compliance coverage are what turn pilots into approved production services.</a:t>
            </a:r>
          </a:p>
        </p:txBody>
      </p:sp>
      <p:sp>
        <p:nvSpPr>
          <p:cNvPr id="32" name="TextBox 31"/>
          <p:cNvSpPr txBox="1"/>
          <p:nvPr/>
        </p:nvSpPr>
        <p:spPr>
          <a:xfrm>
            <a:off x="7187184" y="5303520"/>
            <a:ext cx="4041648" cy="274320"/>
          </a:xfrm>
          <a:prstGeom prst="rect">
            <a:avLst/>
          </a:prstGeom>
          <a:noFill/>
        </p:spPr>
        <p:txBody>
          <a:bodyPr wrap="square" lIns="27432" rIns="27432" tIns="18288" bIns="18288">
            <a:normAutofit/>
          </a:bodyPr>
          <a:lstStyle/>
          <a:p>
            <a:pPr>
              <a:lnSpc>
                <a:spcPct val="100000"/>
              </a:lnSpc>
              <a:defRPr sz="1050" b="1">
                <a:solidFill>
                  <a:srgbClr val="FFE2DB"/>
                </a:solidFill>
                <a:latin typeface="Georgia"/>
              </a:defRPr>
            </a:pPr>
            <a:r>
              <a:t>So what: It can reduce procurement friction when the controls are real and documented.</a:t>
            </a:r>
          </a:p>
        </p:txBody>
      </p:sp>
      <p:sp>
        <p:nvSpPr>
          <p:cNvPr id="33" name="TextBox 32"/>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18/18 · Official Databricks source: https://www.databricks.com/blog/whats-new-databricks-platform-security-and-compliance-data-ai-summit-2026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